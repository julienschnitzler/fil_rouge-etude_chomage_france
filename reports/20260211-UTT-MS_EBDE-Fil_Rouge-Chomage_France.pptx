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od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ifi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ez 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le 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sty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le 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du 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titr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F39BB-4EE0-48D1-93BE-639A995BC4DE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difi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ez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le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styl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du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titr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88A31D-CE79-45BE-A32F-4EE99D1E8C9A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z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y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74A659-91D1-4683-A6DD-4960AFA7FFF7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le style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161B57-8D5A-4859-B50E-FB56F5D8B4C1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</a:t>
            </a: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73517-6DCE-4EE0-AF03-2B820365E965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DC756B-173A-4547-B313-8DA532FFD061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5F3A41-EE9C-4A7C-9E35-BBF4A24FE4DF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15DF7C-C022-45BE-963E-34207DC0E7AD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6D80A-1232-4A20-807D-148289028F5A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837B9-0ECD-40E6-983A-C30E5691C0CE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6AE3FD-1031-43A9-B327-983BF8D02133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github.com/JulienSchnitzler/fil_rouge-etude_chomage_france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1"/>
          <p:cNvSpPr/>
          <p:nvPr/>
        </p:nvSpPr>
        <p:spPr>
          <a:xfrm>
            <a:off x="411480" y="987480"/>
            <a:ext cx="448560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Le chômage en France</a:t>
            </a:r>
            <a:endParaRPr lang="fr-F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9440" y="387720"/>
            <a:ext cx="72720" cy="548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286000"/>
            <a:ext cx="438876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411480" y="2688480"/>
            <a:ext cx="4498560" cy="35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 Rouge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MS EBDE 2025-2026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icture 4" descr="https://www.utt.fr/medias/photo/grace-chiang-5-_1547821106909-jpg?ID_FICHE=4112"/>
          <p:cNvSpPr/>
          <p:nvPr/>
        </p:nvSpPr>
        <p:spPr>
          <a:xfrm>
            <a:off x="5308200" y="0"/>
            <a:ext cx="6883560" cy="6857640"/>
          </a:xfrm>
          <a:custGeom>
            <a:avLst/>
            <a:gdLst>
              <a:gd name="textAreaLeft" fmla="*/ 0 w 6883560"/>
              <a:gd name="textAreaRight" fmla="*/ 6883920 w 68835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  <a:effectLst>
            <a:outerShdw algn="r" blurRad="50760" dir="10800000" dist="38160" rotWithShape="0">
              <a:schemeClr val="bg1">
                <a:lumMod val="85000"/>
                <a:alpha val="3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5" descr="A close up of a logo&#10;&#10;AI-generated content may be incorrect."/>
          <p:cNvPicPr/>
          <p:nvPr/>
        </p:nvPicPr>
        <p:blipFill>
          <a:blip r:embed="rId2"/>
          <a:srcRect l="-64" t="0" r="32" b="-1138"/>
          <a:stretch/>
        </p:blipFill>
        <p:spPr>
          <a:xfrm>
            <a:off x="710280" y="5710320"/>
            <a:ext cx="3798000" cy="83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9"/>
          <p:cNvSpPr/>
          <p:nvPr/>
        </p:nvSpPr>
        <p:spPr>
          <a:xfrm>
            <a:off x="603360" y="2291040"/>
            <a:ext cx="1055952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Comment les caractéristiques socio-démographiques et macro-économiques influencent-elles l'évolution du chômage en France ?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dans quelle mesure les données actuelles permettent-elles d'anticiper les tendances futures ?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3"/>
          <p:cNvSpPr/>
          <p:nvPr/>
        </p:nvSpPr>
        <p:spPr>
          <a:xfrm>
            <a:off x="3363120" y="263520"/>
            <a:ext cx="86184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6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Définition du cadre et des objectifs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2"/>
          <p:cNvSpPr/>
          <p:nvPr/>
        </p:nvSpPr>
        <p:spPr>
          <a:xfrm>
            <a:off x="-720" y="224748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Définition du cadre et des objectifs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"/>
          <p:cNvSpPr/>
          <p:nvPr/>
        </p:nvSpPr>
        <p:spPr>
          <a:xfrm>
            <a:off x="5407920" y="152280"/>
            <a:ext cx="6518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de-DE" sz="4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Étapes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3208320" y="224748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Préparation et nettoyage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252120" y="218124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Analyse exploratoire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6"/>
          <p:cNvPicPr/>
          <p:nvPr/>
        </p:nvPicPr>
        <p:blipFill>
          <a:blip r:embed="rId1"/>
          <a:stretch/>
        </p:blipFill>
        <p:spPr>
          <a:xfrm>
            <a:off x="60516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"/>
          <p:cNvPicPr/>
          <p:nvPr/>
        </p:nvPicPr>
        <p:blipFill>
          <a:blip r:embed="rId2"/>
          <a:stretch/>
        </p:blipFill>
        <p:spPr>
          <a:xfrm>
            <a:off x="3726000" y="2906640"/>
            <a:ext cx="1896120" cy="171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8"/>
          <p:cNvPicPr/>
          <p:nvPr/>
        </p:nvPicPr>
        <p:blipFill>
          <a:blip r:embed="rId3"/>
          <a:stretch/>
        </p:blipFill>
        <p:spPr>
          <a:xfrm>
            <a:off x="675864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9"/>
          <p:cNvSpPr/>
          <p:nvPr/>
        </p:nvSpPr>
        <p:spPr>
          <a:xfrm>
            <a:off x="9299880" y="2247120"/>
            <a:ext cx="2424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Modélisation et prédiction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10"/>
          <p:cNvPicPr/>
          <p:nvPr/>
        </p:nvPicPr>
        <p:blipFill>
          <a:blip r:embed="rId4"/>
          <a:stretch/>
        </p:blipFill>
        <p:spPr>
          <a:xfrm>
            <a:off x="983952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angle 5"/>
          <p:cNvSpPr/>
          <p:nvPr/>
        </p:nvSpPr>
        <p:spPr>
          <a:xfrm>
            <a:off x="3204360" y="1716840"/>
            <a:ext cx="2894040" cy="3912120"/>
          </a:xfrm>
          <a:prstGeom prst="rect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3"/>
          <p:cNvSpPr/>
          <p:nvPr/>
        </p:nvSpPr>
        <p:spPr>
          <a:xfrm>
            <a:off x="3468960" y="263520"/>
            <a:ext cx="8618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Préparation et nettoyage des données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ZoneTexte 2"/>
          <p:cNvSpPr/>
          <p:nvPr/>
        </p:nvSpPr>
        <p:spPr>
          <a:xfrm>
            <a:off x="556920" y="1695960"/>
            <a:ext cx="7960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GITHUB : </a:t>
            </a:r>
            <a:r>
              <a:rPr lang="fr-FR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https://github.com/JulienSchnitzler/fil_rouge-etude_chomage_france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4"/>
          <p:cNvPicPr/>
          <p:nvPr/>
        </p:nvPicPr>
        <p:blipFill>
          <a:blip r:embed="rId2"/>
          <a:stretch/>
        </p:blipFill>
        <p:spPr>
          <a:xfrm>
            <a:off x="903960" y="3051720"/>
            <a:ext cx="6758640" cy="318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ZoneTexte 5"/>
          <p:cNvSpPr/>
          <p:nvPr/>
        </p:nvSpPr>
        <p:spPr>
          <a:xfrm>
            <a:off x="556920" y="2547720"/>
            <a:ext cx="79606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STRUCTURE DU PROJET :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3"/>
          <p:cNvSpPr/>
          <p:nvPr/>
        </p:nvSpPr>
        <p:spPr>
          <a:xfrm>
            <a:off x="3468960" y="263520"/>
            <a:ext cx="8618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Source des données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2"/>
          <p:cNvPicPr/>
          <p:nvPr/>
        </p:nvPicPr>
        <p:blipFill>
          <a:blip r:embed="rId1"/>
          <a:stretch/>
        </p:blipFill>
        <p:spPr>
          <a:xfrm>
            <a:off x="134640" y="3224880"/>
            <a:ext cx="11926080" cy="34678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86" name="ZoneTexte 4"/>
          <p:cNvSpPr/>
          <p:nvPr/>
        </p:nvSpPr>
        <p:spPr>
          <a:xfrm>
            <a:off x="484920" y="1321200"/>
            <a:ext cx="7960680" cy="17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Principales difficultés : 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Granularités différentes selon le dataset (annuel, trimestriel, mensuel).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Périodes de temps différentes.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Notions et méthodologies qui diffèrent selon les sources.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3"/>
          <p:cNvSpPr/>
          <p:nvPr/>
        </p:nvSpPr>
        <p:spPr>
          <a:xfrm>
            <a:off x="3468960" y="263520"/>
            <a:ext cx="8618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Dimensions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ZoneTexte 4"/>
          <p:cNvSpPr/>
          <p:nvPr/>
        </p:nvSpPr>
        <p:spPr>
          <a:xfrm>
            <a:off x="529920" y="1295280"/>
            <a:ext cx="284724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Index temporels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3"/>
          <p:cNvPicPr/>
          <p:nvPr/>
        </p:nvPicPr>
        <p:blipFill>
          <a:blip r:embed="rId1"/>
          <a:srcRect l="0" t="12188" r="0" b="77665"/>
          <a:stretch/>
        </p:blipFill>
        <p:spPr>
          <a:xfrm>
            <a:off x="452520" y="1841760"/>
            <a:ext cx="2976120" cy="60552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</p:pic>
      <p:grpSp>
        <p:nvGrpSpPr>
          <p:cNvPr id="90" name="Groupe 10"/>
          <p:cNvGrpSpPr/>
          <p:nvPr/>
        </p:nvGrpSpPr>
        <p:grpSpPr>
          <a:xfrm>
            <a:off x="8183520" y="1858320"/>
            <a:ext cx="2976120" cy="1851840"/>
            <a:chOff x="8183520" y="1858320"/>
            <a:chExt cx="2976120" cy="1851840"/>
          </a:xfrm>
        </p:grpSpPr>
        <p:pic>
          <p:nvPicPr>
            <p:cNvPr id="91" name="Image 5"/>
            <p:cNvPicPr/>
            <p:nvPr/>
          </p:nvPicPr>
          <p:blipFill>
            <a:blip r:embed="rId2"/>
            <a:srcRect l="0" t="71704" r="0" b="0"/>
            <a:stretch/>
          </p:blipFill>
          <p:spPr>
            <a:xfrm>
              <a:off x="8183520" y="2021400"/>
              <a:ext cx="2976120" cy="168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Image 6"/>
            <p:cNvPicPr/>
            <p:nvPr/>
          </p:nvPicPr>
          <p:blipFill>
            <a:blip r:embed="rId3"/>
            <a:srcRect l="0" t="64685" r="0" b="32845"/>
            <a:stretch/>
          </p:blipFill>
          <p:spPr>
            <a:xfrm>
              <a:off x="8183520" y="1858320"/>
              <a:ext cx="2976120" cy="1468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93" name="Image 7"/>
          <p:cNvPicPr/>
          <p:nvPr/>
        </p:nvPicPr>
        <p:blipFill>
          <a:blip r:embed="rId4"/>
          <a:srcRect l="0" t="22019" r="0" b="35525"/>
          <a:stretch/>
        </p:blipFill>
        <p:spPr>
          <a:xfrm>
            <a:off x="4042440" y="1841760"/>
            <a:ext cx="2976120" cy="253404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</p:pic>
      <p:sp>
        <p:nvSpPr>
          <p:cNvPr id="94" name="ZoneTexte 8"/>
          <p:cNvSpPr/>
          <p:nvPr/>
        </p:nvSpPr>
        <p:spPr>
          <a:xfrm>
            <a:off x="4042440" y="1295280"/>
            <a:ext cx="29761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Variables endogènes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ZoneTexte 9"/>
          <p:cNvSpPr/>
          <p:nvPr/>
        </p:nvSpPr>
        <p:spPr>
          <a:xfrm>
            <a:off x="8183520" y="1295280"/>
            <a:ext cx="29761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Variables explicatives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1"/>
          <p:cNvSpPr/>
          <p:nvPr/>
        </p:nvSpPr>
        <p:spPr>
          <a:xfrm>
            <a:off x="8235000" y="1850760"/>
            <a:ext cx="2924640" cy="1929960"/>
          </a:xfrm>
          <a:prstGeom prst="rect">
            <a:avLst/>
          </a:prstGeom>
          <a:noFill/>
          <a:ln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7" name="Connecteur droit avec flèche 14"/>
          <p:cNvCxnSpPr/>
          <p:nvPr/>
        </p:nvCxnSpPr>
        <p:spPr>
          <a:xfrm>
            <a:off x="1928880" y="2727000"/>
            <a:ext cx="360" cy="966960"/>
          </a:xfrm>
          <a:prstGeom prst="straightConnector1">
            <a:avLst/>
          </a:prstGeom>
          <a:ln>
            <a:solidFill>
              <a:srgbClr val="5b9bd5"/>
            </a:solidFill>
            <a:tailEnd len="med" type="triangle" w="med"/>
          </a:ln>
        </p:spPr>
      </p:cxnSp>
      <p:sp>
        <p:nvSpPr>
          <p:cNvPr id="98" name="ZoneTexte 15"/>
          <p:cNvSpPr/>
          <p:nvPr/>
        </p:nvSpPr>
        <p:spPr>
          <a:xfrm>
            <a:off x="704880" y="3788640"/>
            <a:ext cx="2497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Structurer la chronologie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ZoneTexte 17"/>
          <p:cNvSpPr/>
          <p:nvPr/>
        </p:nvSpPr>
        <p:spPr>
          <a:xfrm>
            <a:off x="3915360" y="5150880"/>
            <a:ext cx="3230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Target : </a:t>
            </a:r>
            <a:r>
              <a:rPr lang="fr-FR" sz="1600" b="0" i="1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taux_chomage_total_insee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Tableau 18"/>
          <p:cNvGraphicFramePr/>
          <p:nvPr/>
        </p:nvGraphicFramePr>
        <p:xfrm>
          <a:off x="7632360" y="4158000"/>
          <a:ext cx="4455000" cy="2481840"/>
        </p:xfrm>
        <a:graphic>
          <a:graphicData uri="http://schemas.openxmlformats.org/drawingml/2006/table">
            <a:tbl>
              <a:tblPr/>
              <a:tblGrid>
                <a:gridCol w="1248120"/>
                <a:gridCol w="1783080"/>
                <a:gridCol w="1423440"/>
              </a:tblGrid>
              <a:tr h="229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Catégorie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70ad47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Variables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Utilité pour le modèle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59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Macro-économie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70ad47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pib, 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ipc (inflation),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taux_euribor_3m,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MRO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Capte la santé économique globale et la politique monétaire.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67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Climat des affaires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70ad47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indicat_climat_affaires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retournement_conjoncturel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prédisent souvent les changements de chômage avec quelques mois d'avance.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67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Dynamique du Marché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70ad47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nb_offres_france_travail, 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nb_interimaires, 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"/>
                      </a:pPr>
                      <a:r>
                        <a:rPr lang="fr-FR" sz="1000" b="0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nb_defaillances_entreprise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Mesurent la tension immédiate sur le marché de l'emploi.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1" name="Connecteur droit avec flèche 20"/>
          <p:cNvCxnSpPr/>
          <p:nvPr/>
        </p:nvCxnSpPr>
        <p:spPr>
          <a:xfrm>
            <a:off x="5530320" y="4534920"/>
            <a:ext cx="360" cy="534240"/>
          </a:xfrm>
          <a:prstGeom prst="straightConnector1">
            <a:avLst/>
          </a:prstGeom>
          <a:ln>
            <a:solidFill>
              <a:srgbClr val="ed7d31"/>
            </a:solidFill>
            <a:tailEnd len="med" type="triangle" w="med"/>
          </a:ln>
        </p:spPr>
      </p:cxnSp>
      <p:cxnSp>
        <p:nvCxnSpPr>
          <p:cNvPr id="102" name="Connecteur droit avec flèche 21"/>
          <p:cNvCxnSpPr/>
          <p:nvPr/>
        </p:nvCxnSpPr>
        <p:spPr>
          <a:xfrm>
            <a:off x="9706680" y="3823560"/>
            <a:ext cx="360" cy="316080"/>
          </a:xfrm>
          <a:prstGeom prst="straightConnector1">
            <a:avLst/>
          </a:prstGeom>
          <a:ln>
            <a:solidFill>
              <a:srgbClr val="70ad47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3"/>
          <p:cNvSpPr/>
          <p:nvPr/>
        </p:nvSpPr>
        <p:spPr>
          <a:xfrm>
            <a:off x="3468960" y="263520"/>
            <a:ext cx="8618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Modélisation des données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ZoneTexte 4"/>
          <p:cNvSpPr/>
          <p:nvPr/>
        </p:nvSpPr>
        <p:spPr>
          <a:xfrm>
            <a:off x="216360" y="1345320"/>
            <a:ext cx="11763360" cy="20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1. Indices de prix et de coûts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Indices "base 100". Leur valeur absolue n'a pas de sens ainsi, c'est l'évolution qui compte.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Variables :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alibri"/>
              </a:rPr>
              <a:t>ipc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alibri"/>
              </a:rPr>
              <a:t>ipc_energie_only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alibri"/>
              </a:rPr>
              <a:t>ict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, 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alibri"/>
              </a:rPr>
              <a:t>isj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Retraitement :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Calculer le taux de variation.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Formule :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(Index </a:t>
            </a:r>
            <a:r>
              <a:rPr lang="fr-FR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 − Index </a:t>
            </a:r>
            <a:r>
              <a:rPr lang="fr-FR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t−n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 ) / Index </a:t>
            </a:r>
            <a:r>
              <a:rPr lang="fr-FR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t−n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 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Pourquoi ?</a:t>
            </a: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Transformer un indice croissant en une mesure de l'accélération des prix (plus corrélé aux cycles du chômage).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"/>
          <p:cNvSpPr/>
          <p:nvPr/>
        </p:nvSpPr>
        <p:spPr>
          <a:xfrm>
            <a:off x="213480" y="3122640"/>
            <a:ext cx="1130148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Indicateurs de climat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 sont des indices de "sentiment" issus d'enquêtes.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Variables 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alibri"/>
              </a:rPr>
              <a:t>indicateur_climat_affaires, indicateur_climat_emploi.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Retraitement  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Centrage et Réduction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(Standardisation).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2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Formule 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(X−μ)/σ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2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Pourquoi ?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 Indices souvent calibrés autour de 100 (leur moyenne historique). En les standardisant, on identifie si l'économie est en phase d'optimisme (au-dessus de 0) ou de pessimisme (en-dessous de 0).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213480" y="5059800"/>
            <a:ext cx="11493720" cy="16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Variables de Volume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Contiennent des nombres absolus qui augmentent naturellement avec la taille de la population ou de l'économie.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Variables concernées 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alibri"/>
              </a:rPr>
              <a:t>pib, demandeur_total_abcd_total, nb_defaillances_entreprise, nb_interimaires, nb_offres_france_travail.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Retraitement 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 La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Variation nette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(différence entre M et M−1)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2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Pourquoi ?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On veut savoir si le nombre d'intérimaires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augmente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ou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diminue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, pas seulement connaître le stock total.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3"/>
          <p:cNvSpPr/>
          <p:nvPr/>
        </p:nvSpPr>
        <p:spPr>
          <a:xfrm>
            <a:off x="3468960" y="263520"/>
            <a:ext cx="8618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Valeurs manquantes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3"/>
          <p:cNvPicPr/>
          <p:nvPr/>
        </p:nvPicPr>
        <p:blipFill>
          <a:blip r:embed="rId1"/>
          <a:srcRect l="0" t="0" r="-68" b="1753"/>
          <a:stretch/>
        </p:blipFill>
        <p:spPr>
          <a:xfrm>
            <a:off x="631080" y="1407240"/>
            <a:ext cx="2842920" cy="51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5"/>
          <p:cNvPicPr/>
          <p:nvPr/>
        </p:nvPicPr>
        <p:blipFill>
          <a:blip r:embed="rId2"/>
          <a:stretch/>
        </p:blipFill>
        <p:spPr>
          <a:xfrm>
            <a:off x="5256720" y="1403640"/>
            <a:ext cx="5668920" cy="492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3"/>
          <p:cNvSpPr/>
          <p:nvPr/>
        </p:nvSpPr>
        <p:spPr>
          <a:xfrm>
            <a:off x="3468960" y="263520"/>
            <a:ext cx="86184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Valeurs manquantes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ZoneTexte 4"/>
          <p:cNvSpPr/>
          <p:nvPr/>
        </p:nvSpPr>
        <p:spPr>
          <a:xfrm>
            <a:off x="238680" y="1398960"/>
            <a:ext cx="5503320" cy="50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Gestion des valeurs manquante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Problématique 1 : Les datasets ont des granularités de date différentes (annuelle, trimestrielle, mensuelle)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La donnée manquante est expliquée par la variable de temps.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Proposition 1 : Travailler à l'année ou au trimestre plutôt que le mois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Proposition 2 : Interpolation linéaire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Problématique 2 : Les datasets ont des dates de début et de fin différentes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Proposition 1 : Tronquer le dataset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Proposition 2 : Exclure la variable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5"/>
          <p:cNvPicPr/>
          <p:nvPr/>
        </p:nvPicPr>
        <p:blipFill>
          <a:blip r:embed="rId1"/>
          <a:stretch/>
        </p:blipFill>
        <p:spPr>
          <a:xfrm>
            <a:off x="5828040" y="1403640"/>
            <a:ext cx="5668920" cy="492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2"/>
          <p:cNvSpPr/>
          <p:nvPr/>
        </p:nvSpPr>
        <p:spPr>
          <a:xfrm>
            <a:off x="-720" y="224748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Définition du cadre et des objectifs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"/>
          <p:cNvSpPr/>
          <p:nvPr/>
        </p:nvSpPr>
        <p:spPr>
          <a:xfrm>
            <a:off x="5407920" y="152280"/>
            <a:ext cx="6518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de-DE" sz="4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Étapes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3208320" y="224748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Préparation et nettoyage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6252120" y="218124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Analyse exploratoire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6"/>
          <p:cNvPicPr/>
          <p:nvPr/>
        </p:nvPicPr>
        <p:blipFill>
          <a:blip r:embed="rId1"/>
          <a:stretch/>
        </p:blipFill>
        <p:spPr>
          <a:xfrm>
            <a:off x="60516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7"/>
          <p:cNvPicPr/>
          <p:nvPr/>
        </p:nvPicPr>
        <p:blipFill>
          <a:blip r:embed="rId2"/>
          <a:stretch/>
        </p:blipFill>
        <p:spPr>
          <a:xfrm>
            <a:off x="3726000" y="2906640"/>
            <a:ext cx="1896120" cy="171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8"/>
          <p:cNvPicPr/>
          <p:nvPr/>
        </p:nvPicPr>
        <p:blipFill>
          <a:blip r:embed="rId3"/>
          <a:stretch/>
        </p:blipFill>
        <p:spPr>
          <a:xfrm>
            <a:off x="675864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9"/>
          <p:cNvSpPr/>
          <p:nvPr/>
        </p:nvSpPr>
        <p:spPr>
          <a:xfrm>
            <a:off x="9299880" y="2247120"/>
            <a:ext cx="2424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Modélisation et prédiction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0"/>
          <p:cNvPicPr/>
          <p:nvPr/>
        </p:nvPicPr>
        <p:blipFill>
          <a:blip r:embed="rId4"/>
          <a:stretch/>
        </p:blipFill>
        <p:spPr>
          <a:xfrm>
            <a:off x="983952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5"/>
          <p:cNvSpPr/>
          <p:nvPr/>
        </p:nvSpPr>
        <p:spPr>
          <a:xfrm>
            <a:off x="6252120" y="1716840"/>
            <a:ext cx="2894040" cy="3912120"/>
          </a:xfrm>
          <a:prstGeom prst="rect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3"/>
          <p:cNvSpPr/>
          <p:nvPr/>
        </p:nvSpPr>
        <p:spPr>
          <a:xfrm>
            <a:off x="5045040" y="267120"/>
            <a:ext cx="741348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Description de la</a:t>
            </a:r>
            <a:r>
              <a:rPr lang="de-DE" sz="36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 </a:t>
            </a:r>
            <a:r>
              <a:rPr lang="de-DE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variable IPC 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"/>
          <p:cNvPicPr/>
          <p:nvPr/>
        </p:nvPicPr>
        <p:blipFill>
          <a:blip r:embed="rId1"/>
          <a:stretch/>
        </p:blipFill>
        <p:spPr>
          <a:xfrm>
            <a:off x="1024200" y="1365480"/>
            <a:ext cx="3692160" cy="300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6"/>
          <p:cNvPicPr/>
          <p:nvPr/>
        </p:nvPicPr>
        <p:blipFill>
          <a:blip r:embed="rId2"/>
          <a:stretch/>
        </p:blipFill>
        <p:spPr>
          <a:xfrm>
            <a:off x="6672240" y="1369440"/>
            <a:ext cx="3888720" cy="299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7"/>
          <p:cNvPicPr/>
          <p:nvPr/>
        </p:nvPicPr>
        <p:blipFill>
          <a:blip r:embed="rId3"/>
          <a:stretch/>
        </p:blipFill>
        <p:spPr>
          <a:xfrm>
            <a:off x="1024920" y="4586760"/>
            <a:ext cx="3586320" cy="217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8"/>
          <p:cNvPicPr/>
          <p:nvPr/>
        </p:nvPicPr>
        <p:blipFill>
          <a:blip r:embed="rId4"/>
          <a:stretch/>
        </p:blipFill>
        <p:spPr>
          <a:xfrm>
            <a:off x="6672240" y="4465800"/>
            <a:ext cx="3721680" cy="239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3"/>
          <p:cNvSpPr/>
          <p:nvPr/>
        </p:nvSpPr>
        <p:spPr>
          <a:xfrm>
            <a:off x="5045040" y="267120"/>
            <a:ext cx="741348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Description de la</a:t>
            </a:r>
            <a:r>
              <a:rPr lang="de-DE" sz="36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 </a:t>
            </a:r>
            <a:r>
              <a:rPr lang="de-DE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variable ICA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2"/>
          <p:cNvPicPr/>
          <p:nvPr/>
        </p:nvPicPr>
        <p:blipFill>
          <a:blip r:embed="rId1"/>
          <a:stretch/>
        </p:blipFill>
        <p:spPr>
          <a:xfrm>
            <a:off x="1045080" y="1292400"/>
            <a:ext cx="3566880" cy="286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3"/>
          <p:cNvPicPr/>
          <p:nvPr/>
        </p:nvPicPr>
        <p:blipFill>
          <a:blip r:embed="rId2"/>
          <a:stretch/>
        </p:blipFill>
        <p:spPr>
          <a:xfrm>
            <a:off x="6513840" y="1296360"/>
            <a:ext cx="3715200" cy="26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4"/>
          <p:cNvPicPr/>
          <p:nvPr/>
        </p:nvPicPr>
        <p:blipFill>
          <a:blip r:embed="rId3"/>
          <a:stretch/>
        </p:blipFill>
        <p:spPr>
          <a:xfrm>
            <a:off x="1044720" y="4508640"/>
            <a:ext cx="3567600" cy="229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5"/>
          <p:cNvPicPr/>
          <p:nvPr/>
        </p:nvPicPr>
        <p:blipFill>
          <a:blip r:embed="rId4"/>
          <a:stretch/>
        </p:blipFill>
        <p:spPr>
          <a:xfrm>
            <a:off x="6664680" y="4225680"/>
            <a:ext cx="3559680" cy="263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3"/>
          <p:cNvSpPr/>
          <p:nvPr/>
        </p:nvSpPr>
        <p:spPr>
          <a:xfrm>
            <a:off x="5045040" y="267120"/>
            <a:ext cx="7413480" cy="13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Description de la</a:t>
            </a:r>
            <a:r>
              <a:rPr lang="de-DE" sz="36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 </a:t>
            </a:r>
            <a:r>
              <a:rPr lang="de-DE" sz="3200" b="1" u="none" strike="noStrike">
                <a:solidFill>
                  <a:schemeClr val="accent4"/>
                </a:solidFill>
                <a:effectLst/>
                <a:uFillTx/>
                <a:latin typeface="Calibri"/>
                <a:ea typeface="Calibri"/>
              </a:rPr>
              <a:t>variable DTotal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1"/>
          <p:cNvPicPr/>
          <p:nvPr/>
        </p:nvPicPr>
        <p:blipFill>
          <a:blip r:embed="rId1"/>
          <a:stretch/>
        </p:blipFill>
        <p:spPr>
          <a:xfrm>
            <a:off x="1050120" y="1293840"/>
            <a:ext cx="3580560" cy="273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6"/>
          <p:cNvPicPr/>
          <p:nvPr/>
        </p:nvPicPr>
        <p:blipFill>
          <a:blip r:embed="rId2"/>
          <a:stretch/>
        </p:blipFill>
        <p:spPr>
          <a:xfrm>
            <a:off x="6858360" y="1282320"/>
            <a:ext cx="3584880" cy="273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7"/>
          <p:cNvPicPr/>
          <p:nvPr/>
        </p:nvPicPr>
        <p:blipFill>
          <a:blip r:embed="rId3"/>
          <a:stretch/>
        </p:blipFill>
        <p:spPr>
          <a:xfrm>
            <a:off x="1092960" y="4096800"/>
            <a:ext cx="3539520" cy="276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8"/>
          <p:cNvPicPr/>
          <p:nvPr/>
        </p:nvPicPr>
        <p:blipFill>
          <a:blip r:embed="rId4"/>
          <a:stretch/>
        </p:blipFill>
        <p:spPr>
          <a:xfrm>
            <a:off x="6959160" y="4218840"/>
            <a:ext cx="3584880" cy="263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lowchart: Documen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0" y="0"/>
            <a:ext cx="3247560" cy="3400200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"/>
          <p:cNvSpPr/>
          <p:nvPr/>
        </p:nvSpPr>
        <p:spPr>
          <a:xfrm>
            <a:off x="838080" y="171000"/>
            <a:ext cx="2839680" cy="23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 Light"/>
              </a:rPr>
              <a:t>Selection des features pertinentes: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Mutual Information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2"/>
          <p:cNvPicPr/>
          <p:nvPr/>
        </p:nvPicPr>
        <p:blipFill>
          <a:blip r:embed="rId1"/>
          <a:stretch/>
        </p:blipFill>
        <p:spPr>
          <a:xfrm>
            <a:off x="4857840" y="640080"/>
            <a:ext cx="6047280" cy="557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Box 3"/>
          <p:cNvSpPr/>
          <p:nvPr/>
        </p:nvSpPr>
        <p:spPr>
          <a:xfrm>
            <a:off x="555480" y="3953160"/>
            <a:ext cx="3250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Permet de quantifier a quel point une variable permet d'expliquer la cible 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"/>
          <p:cNvPicPr/>
          <p:nvPr/>
        </p:nvPicPr>
        <p:blipFill>
          <a:blip r:embed="rId1"/>
          <a:stretch/>
        </p:blipFill>
        <p:spPr>
          <a:xfrm>
            <a:off x="4955040" y="1293840"/>
            <a:ext cx="6974640" cy="542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5407920" y="152280"/>
            <a:ext cx="6518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de-DE" sz="4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Lasso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163440" y="2515680"/>
            <a:ext cx="41979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Vient en appui au MI pour renforcer les donneés qui sont les plus proches de la variable à expliquer 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2"/>
          <p:cNvSpPr/>
          <p:nvPr/>
        </p:nvSpPr>
        <p:spPr>
          <a:xfrm>
            <a:off x="-720" y="224748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Définition du cadre et des objectifs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"/>
          <p:cNvSpPr/>
          <p:nvPr/>
        </p:nvSpPr>
        <p:spPr>
          <a:xfrm>
            <a:off x="5407920" y="152280"/>
            <a:ext cx="6518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de-DE" sz="48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Prochaine étapes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3208320" y="224748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Préparation et nettoyage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6252120" y="2181240"/>
            <a:ext cx="28904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Analyse exploratoire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6"/>
          <p:cNvPicPr/>
          <p:nvPr/>
        </p:nvPicPr>
        <p:blipFill>
          <a:blip r:embed="rId1"/>
          <a:stretch/>
        </p:blipFill>
        <p:spPr>
          <a:xfrm>
            <a:off x="60516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7"/>
          <p:cNvPicPr/>
          <p:nvPr/>
        </p:nvPicPr>
        <p:blipFill>
          <a:blip r:embed="rId2"/>
          <a:stretch/>
        </p:blipFill>
        <p:spPr>
          <a:xfrm>
            <a:off x="3726000" y="2906640"/>
            <a:ext cx="1896120" cy="171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8"/>
          <p:cNvPicPr/>
          <p:nvPr/>
        </p:nvPicPr>
        <p:blipFill>
          <a:blip r:embed="rId3"/>
          <a:stretch/>
        </p:blipFill>
        <p:spPr>
          <a:xfrm>
            <a:off x="675864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Box 9"/>
          <p:cNvSpPr/>
          <p:nvPr/>
        </p:nvSpPr>
        <p:spPr>
          <a:xfrm>
            <a:off x="9299880" y="2247120"/>
            <a:ext cx="2424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Modélisation et prédiction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10"/>
          <p:cNvPicPr/>
          <p:nvPr/>
        </p:nvPicPr>
        <p:blipFill>
          <a:blip r:embed="rId4"/>
          <a:stretch/>
        </p:blipFill>
        <p:spPr>
          <a:xfrm>
            <a:off x="9839520" y="3065040"/>
            <a:ext cx="1678320" cy="167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angle 12"/>
          <p:cNvSpPr/>
          <p:nvPr/>
        </p:nvSpPr>
        <p:spPr>
          <a:xfrm>
            <a:off x="9384120" y="1623600"/>
            <a:ext cx="2530080" cy="3912120"/>
          </a:xfrm>
          <a:prstGeom prst="rect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426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QUESTIONS / RÉPONSES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01680" y="1285560"/>
            <a:ext cx="11385000" cy="103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Echange avec Mr. Bertrand (du 11/02/26)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24760" y="2309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Décalage des séries pour voir les lags entre les données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Est-ce raisonnable de faire de l’analyse temporelle ? Probablement non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Approche de sélection de variables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Variable d’oublie (?)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Corrélation entre variables (VAR)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Indicateur en économie lié au taux de chômage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Mettre le taux de nombre d’offre à côté comme valeur et l’étudier à part dans sa période. Mais ne pas envisager l’imputation ou le filtrage de période car on perdra une grande partie des données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Avoir une feuille PowerBI montrant toutes les corrélations dans la dataviz finale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Lasso 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Variable nb_doffre_ft 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Pour la présentation : Contexte, méthodes, sources, les choix réalisés ...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404040"/>
              </a:buClr>
              <a:buFont typeface="Arial"/>
              <a:buChar char="•"/>
            </a:pPr>
            <a:r>
              <a:rPr lang="de-DE" sz="1700" b="0" u="none" strike="noStrik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Avis expert métier</a:t>
            </a:r>
            <a:endParaRPr lang="fr-FR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EFEF22F81D8545B8BEEA28B7C1CC9A" ma:contentTypeVersion="11" ma:contentTypeDescription="Crée un document." ma:contentTypeScope="" ma:versionID="291207d5701c9b879bceac013ec3e120">
  <xsd:schema xmlns:xsd="http://www.w3.org/2001/XMLSchema" xmlns:xs="http://www.w3.org/2001/XMLSchema" xmlns:p="http://schemas.microsoft.com/office/2006/metadata/properties" xmlns:ns2="63263aa9-0320-4a4d-9bea-9808219d94dc" xmlns:ns3="dc6f942e-b580-46a0-a9a7-34f8be6a2965" targetNamespace="http://schemas.microsoft.com/office/2006/metadata/properties" ma:root="true" ma:fieldsID="b114939c7576b27639ee21ba3987d60a" ns2:_="" ns3:_="">
    <xsd:import namespace="63263aa9-0320-4a4d-9bea-9808219d94dc"/>
    <xsd:import namespace="dc6f942e-b580-46a0-a9a7-34f8be6a29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63aa9-0320-4a4d-9bea-9808219d94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84f71e7f-fb48-44ed-9857-a0600dc7b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f942e-b580-46a0-a9a7-34f8be6a296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b4224a-b606-4848-8afa-178a443a9715}" ma:internalName="TaxCatchAll" ma:showField="CatchAllData" ma:web="dc6f942e-b580-46a0-a9a7-34f8be6a29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6f942e-b580-46a0-a9a7-34f8be6a2965" xsi:nil="true"/>
    <lcf76f155ced4ddcb4097134ff3c332f xmlns="63263aa9-0320-4a4d-9bea-9808219d94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CF5C42D-338D-40BE-89E4-9599AD88CDF8}">
  <ds:schemaRefs>
    <ds:schemaRef ds:uri="63263aa9-0320-4a4d-9bea-9808219d94dc"/>
    <ds:schemaRef ds:uri="dc6f942e-b580-46a0-a9a7-34f8be6a29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73CA9A5-26E6-41B2-83B9-7587B90EB8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83B16F-5443-41C8-B5AE-1AA01EB6D7CB}">
  <ds:schemaRefs>
    <ds:schemaRef ds:uri="63263aa9-0320-4a4d-9bea-9808219d94dc"/>
    <ds:schemaRef ds:uri="dc6f942e-b580-46a0-a9a7-34f8be6a296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2022-05-16T08:23:42Z</dcterms:created>
  <dc:creator>fleury</dc:creator>
  <dc:description/>
  <dc:language>fr-FR</dc:language>
  <cp:lastModifiedBy/>
  <dcterms:modified xsi:type="dcterms:W3CDTF">2026-02-24T19:48:21Z</dcterms:modified>
  <cp:revision>4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0x01010042EFEF22F81D8545B8BEEA28B7C1CC9A</vt:lpwstr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