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77" r:id="rId8"/>
    <p:sldId id="260" r:id="rId9"/>
    <p:sldId id="274" r:id="rId10"/>
    <p:sldId id="264" r:id="rId11"/>
    <p:sldId id="262" r:id="rId12"/>
    <p:sldId id="263" r:id="rId13"/>
    <p:sldId id="284" r:id="rId14"/>
    <p:sldId id="267" r:id="rId15"/>
    <p:sldId id="281" r:id="rId16"/>
    <p:sldId id="268" r:id="rId17"/>
    <p:sldId id="280" r:id="rId18"/>
    <p:sldId id="283" r:id="rId19"/>
    <p:sldId id="276" r:id="rId20"/>
    <p:sldId id="279" r:id="rId21"/>
    <p:sldId id="278" r:id="rId22"/>
    <p:sldId id="265" r:id="rId23"/>
    <p:sldId id="269" r:id="rId24"/>
    <p:sldId id="270" r:id="rId25"/>
    <p:sldId id="259" r:id="rId26"/>
    <p:sldId id="273" r:id="rId27"/>
    <p:sldId id="266" r:id="rId28"/>
    <p:sldId id="261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2832B0-1779-BF2C-4004-8328B17540E8}" v="253" dt="2026-01-09T15:37:02.055"/>
    <p1510:client id="{1F6B2730-DA5F-CAAB-5400-C2844A12EC6C}" v="1828" dt="2026-01-09T15:55:45.631"/>
    <p1510:client id="{2B77C4E6-EC7B-7801-19A8-A9660416F553}" v="250" dt="2026-01-09T15:38:40.145"/>
    <p1510:client id="{4413B8A5-1BED-BC6B-3E4C-3E45415F78DF}" v="534" dt="2026-01-09T14:52:44.167"/>
    <p1510:client id="{7B27F528-EABC-014C-D202-58D19EF63956}" v="199" dt="2026-01-09T14:56:04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443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404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880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17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42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329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5886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337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7905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6871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97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929EB-B1CA-45F8-832E-9D623398623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B015E-0F3B-4043-8FB5-11DD55A108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244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fr.indeed.com/" TargetMode="External"/><Relationship Id="rId3" Type="http://schemas.openxmlformats.org/officeDocument/2006/relationships/hyperlink" Target="https://www.data.gouv.fr/datasets/marche-du-travail/" TargetMode="External"/><Relationship Id="rId7" Type="http://schemas.openxmlformats.org/officeDocument/2006/relationships/hyperlink" Target="https://www.oecd.org/fr/data/datasets/oecd-DE.html" TargetMode="External"/><Relationship Id="rId2" Type="http://schemas.openxmlformats.org/officeDocument/2006/relationships/hyperlink" Target="https://www.insee.fr/fr/statistiques/8376822?sommaire=8376908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c.europa.eu/eurostat/fr/data/database" TargetMode="External"/><Relationship Id="rId5" Type="http://schemas.openxmlformats.org/officeDocument/2006/relationships/hyperlink" Target="https://dataemploi.francetravail.fr/emploi/accueil" TargetMode="External"/><Relationship Id="rId10" Type="http://schemas.openxmlformats.org/officeDocument/2006/relationships/hyperlink" Target="https://fr.linkedin.com/jobs" TargetMode="External"/><Relationship Id="rId4" Type="http://schemas.openxmlformats.org/officeDocument/2006/relationships/hyperlink" Target="https://www.francetravail.org/opendata/" TargetMode="External"/><Relationship Id="rId9" Type="http://schemas.openxmlformats.org/officeDocument/2006/relationships/hyperlink" Target="https://www.monster.fr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6440F9-BDB5-C3E3-83D1-0D43E7F9809E}"/>
              </a:ext>
            </a:extLst>
          </p:cNvPr>
          <p:cNvSpPr txBox="1"/>
          <p:nvPr/>
        </p:nvSpPr>
        <p:spPr>
          <a:xfrm>
            <a:off x="411480" y="987552"/>
            <a:ext cx="4485861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>
                <a:latin typeface="+mj-lt"/>
                <a:ea typeface="+mj-ea"/>
                <a:cs typeface="+mj-cs"/>
              </a:rPr>
              <a:t>Le </a:t>
            </a:r>
            <a:r>
              <a:rPr lang="en-US" sz="3400" b="1" err="1">
                <a:latin typeface="+mj-lt"/>
                <a:ea typeface="+mj-ea"/>
                <a:cs typeface="+mj-cs"/>
              </a:rPr>
              <a:t>chômage</a:t>
            </a:r>
            <a:r>
              <a:rPr lang="en-US" sz="3400" b="1">
                <a:latin typeface="+mj-lt"/>
                <a:ea typeface="+mj-ea"/>
                <a:cs typeface="+mj-cs"/>
              </a:rPr>
              <a:t> </a:t>
            </a:r>
            <a:r>
              <a:rPr lang="en-US" sz="3400" b="1" err="1">
                <a:latin typeface="+mj-lt"/>
                <a:ea typeface="+mj-ea"/>
                <a:cs typeface="+mj-cs"/>
              </a:rPr>
              <a:t>en</a:t>
            </a:r>
            <a:r>
              <a:rPr lang="en-US" sz="3400" b="1">
                <a:latin typeface="+mj-lt"/>
                <a:ea typeface="+mj-ea"/>
                <a:cs typeface="+mj-cs"/>
              </a:rPr>
              <a:t> France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326F26-D5C5-2F55-C599-87A7533258C6}"/>
              </a:ext>
            </a:extLst>
          </p:cNvPr>
          <p:cNvSpPr txBox="1"/>
          <p:nvPr/>
        </p:nvSpPr>
        <p:spPr>
          <a:xfrm>
            <a:off x="411479" y="2688336"/>
            <a:ext cx="4498848" cy="3584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/>
              <a:t>Fil Rouge</a:t>
            </a:r>
            <a:endParaRPr lang="en-US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MS EBDE 2025-2026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https://www.utt.fr/medias/photo/grace-chiang-5-_1547821106909-jpg?ID_FICHE=4112">
            <a:extLst>
              <a:ext uri="{FF2B5EF4-FFF2-40B4-BE49-F238E27FC236}">
                <a16:creationId xmlns:a16="http://schemas.microsoft.com/office/drawing/2014/main" id="{17033111-3080-E8DB-AC34-13C7EDB9E9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17" r="23280" b="-1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44ABBBE-A2B9-CCB1-A749-5FC8A988D7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5" r="33" b="-1136"/>
          <a:stretch>
            <a:fillRect/>
          </a:stretch>
        </p:blipFill>
        <p:spPr>
          <a:xfrm>
            <a:off x="710335" y="5710375"/>
            <a:ext cx="3798465" cy="83761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536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6E9C-7B2A-CE4A-D985-4107CD97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2AEBBF-58EB-AE56-D4F2-AF964AE3B713}"/>
              </a:ext>
            </a:extLst>
          </p:cNvPr>
          <p:cNvSpPr txBox="1"/>
          <p:nvPr/>
        </p:nvSpPr>
        <p:spPr>
          <a:xfrm>
            <a:off x="993057" y="2247573"/>
            <a:ext cx="289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b="1"/>
              <a:t>Winnie MEUDJE</a:t>
            </a:r>
            <a:r>
              <a:rPr lang="en-US"/>
              <a:t>​​</a:t>
            </a:r>
            <a:endParaRPr lang="en-US" sz="7200" b="0" i="0"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5CC4D8-56E7-CFD7-2A13-3E12B1446E22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4800" b="1">
                <a:solidFill>
                  <a:schemeClr val="accent4"/>
                </a:solidFill>
              </a:rPr>
              <a:t>Équipe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87A67-A8F0-FEE2-A7F1-77F3F82EB17A}"/>
              </a:ext>
            </a:extLst>
          </p:cNvPr>
          <p:cNvSpPr txBox="1"/>
          <p:nvPr/>
        </p:nvSpPr>
        <p:spPr>
          <a:xfrm>
            <a:off x="4345857" y="2247573"/>
            <a:ext cx="289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b="1" err="1"/>
              <a:t>Jehovahni</a:t>
            </a:r>
            <a:r>
              <a:rPr lang="en-US" b="1"/>
              <a:t> SODJINOU</a:t>
            </a:r>
            <a:r>
              <a:rPr lang="en-US"/>
              <a:t>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F130A-2A01-E083-4BAB-DEF1D93C8399}"/>
              </a:ext>
            </a:extLst>
          </p:cNvPr>
          <p:cNvSpPr txBox="1"/>
          <p:nvPr/>
        </p:nvSpPr>
        <p:spPr>
          <a:xfrm>
            <a:off x="7698657" y="2247573"/>
            <a:ext cx="289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b="1"/>
              <a:t>Julien SCHNITZLER</a:t>
            </a:r>
            <a:r>
              <a:rPr lang="en-US"/>
              <a:t>​</a:t>
            </a:r>
            <a:endParaRPr lang="en-US" sz="7200" b="0" i="0">
              <a:effectLst/>
            </a:endParaRPr>
          </a:p>
        </p:txBody>
      </p:sp>
      <p:pic>
        <p:nvPicPr>
          <p:cNvPr id="7" name="Picture 6" descr="A white person with a grey background&#10;&#10;AI-generated content may be incorrect.">
            <a:extLst>
              <a:ext uri="{FF2B5EF4-FFF2-40B4-BE49-F238E27FC236}">
                <a16:creationId xmlns:a16="http://schemas.microsoft.com/office/drawing/2014/main" id="{A14C36A1-BEAB-C5E8-399A-C84B5B74D3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970" y="3065206"/>
            <a:ext cx="1678857" cy="1678857"/>
          </a:xfrm>
          <a:prstGeom prst="rect">
            <a:avLst/>
          </a:prstGeom>
        </p:spPr>
      </p:pic>
      <p:pic>
        <p:nvPicPr>
          <p:cNvPr id="8" name="Picture 7" descr="A white person with a grey background&#10;&#10;AI-generated content may be incorrect.">
            <a:extLst>
              <a:ext uri="{FF2B5EF4-FFF2-40B4-BE49-F238E27FC236}">
                <a16:creationId xmlns:a16="http://schemas.microsoft.com/office/drawing/2014/main" id="{41EFDC59-05B8-AB32-635B-4F2660AE33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770" y="3065206"/>
            <a:ext cx="1678857" cy="1678857"/>
          </a:xfrm>
          <a:prstGeom prst="rect">
            <a:avLst/>
          </a:prstGeom>
        </p:spPr>
      </p:pic>
      <p:pic>
        <p:nvPicPr>
          <p:cNvPr id="9" name="Picture 8" descr="A white person with a grey background&#10;&#10;AI-generated content may be incorrect.">
            <a:extLst>
              <a:ext uri="{FF2B5EF4-FFF2-40B4-BE49-F238E27FC236}">
                <a16:creationId xmlns:a16="http://schemas.microsoft.com/office/drawing/2014/main" id="{4602F60B-EEAF-5868-24BC-F4EC5D9F1D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570" y="3065206"/>
            <a:ext cx="1678857" cy="167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2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A6AE-8960-7ECF-1509-DA79226BD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0105D00-D3A3-8E45-CF5E-E25AA64DCF45}"/>
              </a:ext>
            </a:extLst>
          </p:cNvPr>
          <p:cNvSpPr txBox="1"/>
          <p:nvPr/>
        </p:nvSpPr>
        <p:spPr>
          <a:xfrm>
            <a:off x="550606" y="1259821"/>
            <a:ext cx="10722428" cy="595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fontAlgn="base"/>
            <a:r>
              <a:rPr lang="en-US" sz="3200" b="1" i="0" u="none" strike="noStrike" err="1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L’emploi</a:t>
            </a:r>
            <a:r>
              <a:rPr lang="en-US" sz="3200" b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 et le </a:t>
            </a:r>
            <a:r>
              <a:rPr lang="en-US" sz="3200" b="1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chômage</a:t>
            </a:r>
            <a:r>
              <a:rPr lang="en-US" sz="3200" b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3200" b="1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3200" b="1" i="0" u="none" strike="noStrike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 France</a:t>
            </a:r>
            <a:r>
              <a:rPr lang="en-US" sz="3200" b="0" i="0">
                <a:effectLst/>
                <a:latin typeface="Calibri"/>
                <a:ea typeface="Calibri"/>
                <a:cs typeface="Calibri"/>
              </a:rPr>
              <a:t>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5473BA-C7AC-7E2D-668C-F61EEB26CDB9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 err="1">
                <a:solidFill>
                  <a:schemeClr val="accent4"/>
                </a:solidFill>
                <a:ea typeface="Calibri"/>
                <a:cs typeface="Calibri"/>
              </a:rPr>
              <a:t>Contexte</a:t>
            </a:r>
            <a:endParaRPr lang="de-DE" sz="4800" b="1" err="1">
              <a:solidFill>
                <a:schemeClr val="accent4"/>
              </a:solidFill>
            </a:endParaRPr>
          </a:p>
        </p:txBody>
      </p:sp>
      <p:pic>
        <p:nvPicPr>
          <p:cNvPr id="2" name="Picture 1" descr="A screenshot of a device&#10;&#10;AI-generated content may be incorrect.">
            <a:extLst>
              <a:ext uri="{FF2B5EF4-FFF2-40B4-BE49-F238E27FC236}">
                <a16:creationId xmlns:a16="http://schemas.microsoft.com/office/drawing/2014/main" id="{BCE56CE1-2976-B056-9C6A-BB2B9BD7C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7" y="2131574"/>
            <a:ext cx="10602686" cy="377051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8081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40F5-A3DC-7F1C-40D4-5F9158A8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AB3534B-D8EF-49B6-6496-BA7B50A1253B}"/>
              </a:ext>
            </a:extLst>
          </p:cNvPr>
          <p:cNvSpPr txBox="1"/>
          <p:nvPr/>
        </p:nvSpPr>
        <p:spPr>
          <a:xfrm>
            <a:off x="818112" y="2438207"/>
            <a:ext cx="10559845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400" b="1" u="none" strike="noStrike">
                <a:effectLst/>
                <a:ea typeface="+mn-lt"/>
                <a:cs typeface="+mn-lt"/>
              </a:rPr>
              <a:t>Comment </a:t>
            </a:r>
            <a:r>
              <a:rPr lang="en-US" sz="2400" b="1">
                <a:ea typeface="+mn-lt"/>
                <a:cs typeface="+mn-lt"/>
              </a:rPr>
              <a:t>les </a:t>
            </a:r>
            <a:r>
              <a:rPr lang="en-US" sz="2400" b="1" err="1">
                <a:ea typeface="+mn-lt"/>
                <a:cs typeface="+mn-lt"/>
              </a:rPr>
              <a:t>caractéristiques</a:t>
            </a:r>
            <a:r>
              <a:rPr lang="en-US" sz="2400" b="1">
                <a:ea typeface="+mn-lt"/>
                <a:cs typeface="+mn-lt"/>
              </a:rPr>
              <a:t> </a:t>
            </a:r>
            <a:endParaRPr lang="en-US"/>
          </a:p>
          <a:p>
            <a:pPr algn="ctr"/>
            <a:r>
              <a:rPr lang="en-US" sz="2400" b="1">
                <a:ea typeface="+mn-lt"/>
                <a:cs typeface="+mn-lt"/>
              </a:rPr>
              <a:t>socio-</a:t>
            </a:r>
            <a:r>
              <a:rPr lang="en-US" sz="2400" b="1" err="1">
                <a:ea typeface="+mn-lt"/>
                <a:cs typeface="+mn-lt"/>
              </a:rPr>
              <a:t>démographiques</a:t>
            </a:r>
            <a:r>
              <a:rPr lang="en-US" sz="2400" b="1">
                <a:ea typeface="+mn-lt"/>
                <a:cs typeface="+mn-lt"/>
              </a:rPr>
              <a:t> et macro-</a:t>
            </a:r>
            <a:r>
              <a:rPr lang="en-US" sz="2400" b="1" err="1">
                <a:ea typeface="+mn-lt"/>
                <a:cs typeface="+mn-lt"/>
              </a:rPr>
              <a:t>économiques</a:t>
            </a:r>
          </a:p>
          <a:p>
            <a:pPr algn="ctr"/>
            <a:r>
              <a:rPr lang="en-US" sz="2400" b="1">
                <a:ea typeface="+mn-lt"/>
                <a:cs typeface="+mn-lt"/>
              </a:rPr>
              <a:t> </a:t>
            </a:r>
            <a:r>
              <a:rPr lang="en-US" sz="2400" b="1" err="1">
                <a:ea typeface="+mn-lt"/>
                <a:cs typeface="+mn-lt"/>
              </a:rPr>
              <a:t>influencent-elles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l'évolution</a:t>
            </a:r>
            <a:r>
              <a:rPr lang="en-US" sz="2400" b="1">
                <a:ea typeface="+mn-lt"/>
                <a:cs typeface="+mn-lt"/>
              </a:rPr>
              <a:t> du </a:t>
            </a:r>
            <a:r>
              <a:rPr lang="en-US" sz="2400" b="1" u="none" strike="noStrike" err="1">
                <a:effectLst/>
                <a:ea typeface="+mn-lt"/>
                <a:cs typeface="+mn-lt"/>
              </a:rPr>
              <a:t>chômage</a:t>
            </a:r>
            <a:r>
              <a:rPr lang="en-US" sz="2400" b="1" u="none" strike="noStrike">
                <a:effectLst/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en</a:t>
            </a:r>
            <a:r>
              <a:rPr lang="en-US" sz="2400" b="1">
                <a:ea typeface="+mn-lt"/>
                <a:cs typeface="+mn-lt"/>
              </a:rPr>
              <a:t> France </a:t>
            </a:r>
          </a:p>
          <a:p>
            <a:pPr algn="ctr"/>
            <a:r>
              <a:rPr lang="en-US" sz="2400" b="1" u="none" strike="noStrike">
                <a:effectLst/>
                <a:ea typeface="+mn-lt"/>
                <a:cs typeface="+mn-lt"/>
              </a:rPr>
              <a:t>et </a:t>
            </a:r>
            <a:endParaRPr lang="en-US" sz="2400" b="1">
              <a:ea typeface="+mn-lt"/>
              <a:cs typeface="+mn-lt"/>
            </a:endParaRPr>
          </a:p>
          <a:p>
            <a:pPr algn="ctr"/>
            <a:r>
              <a:rPr lang="en-US" sz="2400" b="1">
                <a:ea typeface="+mn-lt"/>
                <a:cs typeface="+mn-lt"/>
              </a:rPr>
              <a:t>dans quelle </a:t>
            </a:r>
            <a:r>
              <a:rPr lang="en-US" sz="2400" b="1" err="1">
                <a:ea typeface="+mn-lt"/>
                <a:cs typeface="+mn-lt"/>
              </a:rPr>
              <a:t>mesure</a:t>
            </a:r>
            <a:r>
              <a:rPr lang="en-US" sz="2400" b="1">
                <a:ea typeface="+mn-lt"/>
                <a:cs typeface="+mn-lt"/>
              </a:rPr>
              <a:t> les données </a:t>
            </a:r>
            <a:r>
              <a:rPr lang="en-US" sz="2400" b="1" err="1">
                <a:ea typeface="+mn-lt"/>
                <a:cs typeface="+mn-lt"/>
              </a:rPr>
              <a:t>actuelles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permettent-elles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d'anticiper</a:t>
            </a:r>
            <a:r>
              <a:rPr lang="en-US" sz="2400" b="1">
                <a:ea typeface="+mn-lt"/>
                <a:cs typeface="+mn-lt"/>
              </a:rPr>
              <a:t> les </a:t>
            </a:r>
            <a:r>
              <a:rPr lang="en-US" sz="2400" b="1" u="none" strike="noStrike">
                <a:effectLst/>
                <a:ea typeface="+mn-lt"/>
                <a:cs typeface="+mn-lt"/>
              </a:rPr>
              <a:t>tendances </a:t>
            </a:r>
            <a:r>
              <a:rPr lang="en-US" sz="2400" b="1">
                <a:ea typeface="+mn-lt"/>
                <a:cs typeface="+mn-lt"/>
              </a:rPr>
              <a:t>futures ?</a:t>
            </a:r>
            <a:endParaRPr lang="en-US" sz="2400" b="1"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740B27-9D92-EC3B-13E5-B5B1C627EAA1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 err="1">
                <a:solidFill>
                  <a:schemeClr val="accent4"/>
                </a:solidFill>
                <a:ea typeface="Calibri"/>
                <a:cs typeface="Calibri"/>
              </a:rPr>
              <a:t>Problématique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EECA8E-54EB-991F-9700-08C6B0E5E899}"/>
              </a:ext>
            </a:extLst>
          </p:cNvPr>
          <p:cNvSpPr txBox="1"/>
          <p:nvPr/>
        </p:nvSpPr>
        <p:spPr>
          <a:xfrm>
            <a:off x="126474" y="5942142"/>
            <a:ext cx="10559845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base"/>
            <a:r>
              <a:rPr lang="fr-FR" sz="1200" b="1">
                <a:solidFill>
                  <a:srgbClr val="404040"/>
                </a:solidFill>
              </a:rPr>
              <a:t>Sources :</a:t>
            </a:r>
            <a:endParaRPr lang="fr-FR" sz="1200">
              <a:solidFill>
                <a:srgbClr val="000000"/>
              </a:solidFill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200">
                <a:solidFill>
                  <a:srgbClr val="404040"/>
                </a:solidFill>
              </a:rPr>
              <a:t>1</a:t>
            </a:r>
            <a:endParaRPr lang="fr-FR" sz="1200">
              <a:solidFill>
                <a:srgbClr val="404040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>
                <a:solidFill>
                  <a:srgbClr val="404040"/>
                </a:solidFill>
                <a:ea typeface="Calibri"/>
                <a:cs typeface="Calibri"/>
              </a:rPr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>
                <a:solidFill>
                  <a:srgbClr val="404040"/>
                </a:solidFill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5052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45A85-60C4-2C53-22B4-D005A231A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11DD360-6CC2-B1FB-2872-16AC77D6E0EE}"/>
              </a:ext>
            </a:extLst>
          </p:cNvPr>
          <p:cNvSpPr txBox="1"/>
          <p:nvPr/>
        </p:nvSpPr>
        <p:spPr>
          <a:xfrm>
            <a:off x="406483" y="1390102"/>
            <a:ext cx="10559845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/>
              <a:t>Nous </a:t>
            </a:r>
            <a:r>
              <a:rPr lang="de-DE" err="1"/>
              <a:t>avons</a:t>
            </a:r>
            <a:r>
              <a:rPr lang="de-DE"/>
              <a:t> </a:t>
            </a:r>
            <a:r>
              <a:rPr lang="de-DE" err="1"/>
              <a:t>effectué</a:t>
            </a:r>
            <a:r>
              <a:rPr lang="de-DE"/>
              <a:t> nos </a:t>
            </a:r>
            <a:r>
              <a:rPr lang="de-DE" err="1"/>
              <a:t>recherches</a:t>
            </a:r>
            <a:r>
              <a:rPr lang="de-DE"/>
              <a:t> </a:t>
            </a:r>
            <a:r>
              <a:rPr lang="de-DE" err="1"/>
              <a:t>auprès</a:t>
            </a:r>
            <a:r>
              <a:rPr lang="de-DE"/>
              <a:t> de </a:t>
            </a:r>
            <a:r>
              <a:rPr lang="de-DE" err="1"/>
              <a:t>différentes</a:t>
            </a:r>
            <a:r>
              <a:rPr lang="de-DE"/>
              <a:t> </a:t>
            </a:r>
            <a:r>
              <a:rPr lang="de-DE" err="1"/>
              <a:t>sources</a:t>
            </a:r>
            <a:r>
              <a:rPr lang="de-DE"/>
              <a:t> :</a:t>
            </a:r>
            <a:endParaRPr lang="de-DE">
              <a:ea typeface="Calibri"/>
              <a:cs typeface="Calibri"/>
            </a:endParaRPr>
          </a:p>
          <a:p>
            <a:pPr algn="ctr"/>
            <a:endParaRPr lang="de-DE">
              <a:ea typeface="Calibri"/>
              <a:cs typeface="Calibri"/>
            </a:endParaRPr>
          </a:p>
          <a:p>
            <a:pPr algn="ctr"/>
            <a:r>
              <a:rPr lang="de-DE" b="1">
                <a:ea typeface="Calibri"/>
                <a:cs typeface="Calibri"/>
              </a:rPr>
              <a:t>France </a:t>
            </a:r>
            <a:r>
              <a:rPr lang="de-DE" b="1" err="1">
                <a:ea typeface="Calibri"/>
                <a:cs typeface="Calibri"/>
              </a:rPr>
              <a:t>travail</a:t>
            </a:r>
            <a:r>
              <a:rPr lang="de-DE" b="1">
                <a:ea typeface="Calibri"/>
                <a:cs typeface="Calibri"/>
              </a:rPr>
              <a:t>; INSEE; BCE; Banque de France; OCDE; DARES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9C3076-E85F-4D6E-059F-21AD0320B585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 err="1">
                <a:solidFill>
                  <a:schemeClr val="accent4"/>
                </a:solidFill>
              </a:rPr>
              <a:t>Référentiel</a:t>
            </a:r>
            <a:r>
              <a:rPr lang="de-DE" sz="4800" b="1">
                <a:solidFill>
                  <a:schemeClr val="accent4"/>
                </a:solidFill>
              </a:rPr>
              <a:t> des </a:t>
            </a:r>
            <a:r>
              <a:rPr lang="de-DE" sz="4800" b="1" err="1">
                <a:solidFill>
                  <a:schemeClr val="accent4"/>
                </a:solidFill>
              </a:rPr>
              <a:t>données</a:t>
            </a:r>
            <a:endParaRPr lang="en-US" err="1">
              <a:solidFill>
                <a:schemeClr val="accent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898D91-DA73-7869-2620-11727BFF7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83" y="2602905"/>
            <a:ext cx="10938711" cy="38047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782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30F5C-D5DE-E7A3-D097-F697539AA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77A9769-33ED-9894-A83E-ADA59E967000}"/>
              </a:ext>
            </a:extLst>
          </p:cNvPr>
          <p:cNvSpPr txBox="1"/>
          <p:nvPr/>
        </p:nvSpPr>
        <p:spPr>
          <a:xfrm>
            <a:off x="550606" y="1417972"/>
            <a:ext cx="10722428" cy="595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200" b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France Travail vs INSEE / OCDE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D1569F-531B-6B71-6C49-39B8BCD40EC0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>
                <a:solidFill>
                  <a:schemeClr val="accent4"/>
                </a:solidFill>
                <a:ea typeface="Calibri"/>
                <a:cs typeface="Calibri"/>
              </a:rPr>
              <a:t>Des </a:t>
            </a:r>
            <a:r>
              <a:rPr lang="de-DE" sz="4800" b="1" err="1">
                <a:solidFill>
                  <a:schemeClr val="accent4"/>
                </a:solidFill>
                <a:ea typeface="Calibri"/>
                <a:cs typeface="Calibri"/>
              </a:rPr>
              <a:t>notions</a:t>
            </a:r>
            <a:r>
              <a:rPr lang="de-DE" sz="4800" b="1">
                <a:solidFill>
                  <a:schemeClr val="accent4"/>
                </a:solidFill>
                <a:ea typeface="Calibri"/>
                <a:cs typeface="Calibri"/>
              </a:rPr>
              <a:t> </a:t>
            </a:r>
            <a:r>
              <a:rPr lang="de-DE" sz="4800" b="1" err="1">
                <a:solidFill>
                  <a:schemeClr val="accent4"/>
                </a:solidFill>
                <a:ea typeface="Calibri"/>
                <a:cs typeface="Calibri"/>
              </a:rPr>
              <a:t>différentes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C50AE-9232-3DB0-E2DD-1569012431A4}"/>
              </a:ext>
            </a:extLst>
          </p:cNvPr>
          <p:cNvSpPr txBox="1">
            <a:spLocks/>
          </p:cNvSpPr>
          <p:nvPr/>
        </p:nvSpPr>
        <p:spPr>
          <a:xfrm>
            <a:off x="738809" y="23115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de-DE" sz="1800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INSEE / OCDE : Sondage</a:t>
            </a:r>
            <a:endParaRPr lang="de-DE" sz="1800" b="1">
              <a:solidFill>
                <a:srgbClr val="404040"/>
              </a:solidFill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4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Bureau International du </a:t>
            </a:r>
            <a:r>
              <a:rPr lang="de-DE" sz="14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Travail</a:t>
            </a:r>
            <a:r>
              <a:rPr lang="de-DE" sz="14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(BIT)</a:t>
            </a:r>
            <a:endParaRPr lang="de-DE" sz="1400"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400" err="1">
                <a:solidFill>
                  <a:srgbClr val="404040"/>
                </a:solidFill>
                <a:ea typeface="Calibri"/>
                <a:cs typeface="Calibri"/>
              </a:rPr>
              <a:t>Objectif</a:t>
            </a:r>
            <a:r>
              <a:rPr lang="de-DE" sz="1400">
                <a:solidFill>
                  <a:srgbClr val="404040"/>
                </a:solidFill>
                <a:ea typeface="Calibri"/>
                <a:cs typeface="Calibri"/>
              </a:rPr>
              <a:t> : Rendre la </a:t>
            </a:r>
            <a:r>
              <a:rPr lang="de-DE" sz="1400" err="1">
                <a:solidFill>
                  <a:srgbClr val="404040"/>
                </a:solidFill>
                <a:ea typeface="Calibri"/>
                <a:cs typeface="Calibri"/>
              </a:rPr>
              <a:t>comparaison</a:t>
            </a:r>
            <a:r>
              <a:rPr lang="de-DE" sz="1400">
                <a:solidFill>
                  <a:srgbClr val="404040"/>
                </a:solidFill>
                <a:ea typeface="Calibri"/>
                <a:cs typeface="Calibri"/>
              </a:rPr>
              <a:t> possible entre </a:t>
            </a:r>
            <a:r>
              <a:rPr lang="de-DE" sz="1400" err="1">
                <a:solidFill>
                  <a:srgbClr val="404040"/>
                </a:solidFill>
                <a:ea typeface="Calibri"/>
                <a:cs typeface="Calibri"/>
              </a:rPr>
              <a:t>les</a:t>
            </a:r>
            <a:r>
              <a:rPr lang="de-DE" sz="1400">
                <a:solidFill>
                  <a:srgbClr val="404040"/>
                </a:solidFill>
                <a:ea typeface="Calibri"/>
                <a:cs typeface="Calibri"/>
              </a:rPr>
              <a:t> </a:t>
            </a:r>
            <a:r>
              <a:rPr lang="de-DE" sz="1400" err="1">
                <a:solidFill>
                  <a:srgbClr val="404040"/>
                </a:solidFill>
                <a:ea typeface="Calibri"/>
                <a:cs typeface="Calibri"/>
              </a:rPr>
              <a:t>pays</a:t>
            </a:r>
            <a:endParaRPr lang="de-DE" sz="1400">
              <a:solidFill>
                <a:srgbClr val="404040"/>
              </a:solidFill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endParaRPr lang="de-DE" sz="1400">
              <a:solidFill>
                <a:srgbClr val="404040"/>
              </a:solidFill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endParaRPr lang="de-DE" sz="1400">
              <a:solidFill>
                <a:srgbClr val="404040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de-DE" sz="1800" b="1">
                <a:solidFill>
                  <a:srgbClr val="404040"/>
                </a:solidFill>
                <a:ea typeface="Calibri"/>
                <a:cs typeface="Calibri"/>
              </a:rPr>
              <a:t>France </a:t>
            </a:r>
            <a:r>
              <a:rPr lang="de-DE" sz="1800" b="1" err="1">
                <a:solidFill>
                  <a:srgbClr val="404040"/>
                </a:solidFill>
                <a:ea typeface="Calibri"/>
                <a:cs typeface="Calibri"/>
              </a:rPr>
              <a:t>Travail</a:t>
            </a:r>
            <a:r>
              <a:rPr lang="de-DE" sz="1800" b="1">
                <a:solidFill>
                  <a:srgbClr val="404040"/>
                </a:solidFill>
                <a:ea typeface="Calibri"/>
                <a:cs typeface="Calibri"/>
              </a:rPr>
              <a:t> : </a:t>
            </a:r>
            <a:r>
              <a:rPr lang="de-DE" sz="1800" b="1" err="1">
                <a:solidFill>
                  <a:srgbClr val="404040"/>
                </a:solidFill>
                <a:ea typeface="Calibri"/>
                <a:cs typeface="Calibri"/>
              </a:rPr>
              <a:t>Comptage</a:t>
            </a:r>
            <a:r>
              <a:rPr lang="de-DE" sz="1800" b="1">
                <a:solidFill>
                  <a:srgbClr val="404040"/>
                </a:solidFill>
                <a:ea typeface="Calibri"/>
                <a:cs typeface="Calibri"/>
              </a:rPr>
              <a:t> des </a:t>
            </a:r>
            <a:r>
              <a:rPr lang="de-DE" sz="1800" b="1" err="1">
                <a:solidFill>
                  <a:srgbClr val="404040"/>
                </a:solidFill>
                <a:ea typeface="Calibri"/>
                <a:cs typeface="Calibri"/>
              </a:rPr>
              <a:t>personnes</a:t>
            </a:r>
            <a:r>
              <a:rPr lang="de-DE" sz="1800" b="1">
                <a:solidFill>
                  <a:srgbClr val="404040"/>
                </a:solidFill>
                <a:ea typeface="Calibri"/>
                <a:cs typeface="Calibri"/>
              </a:rPr>
              <a:t> </a:t>
            </a:r>
            <a:r>
              <a:rPr lang="de-DE" sz="1800" b="1" err="1">
                <a:solidFill>
                  <a:srgbClr val="404040"/>
                </a:solidFill>
                <a:ea typeface="Calibri"/>
                <a:cs typeface="Calibri"/>
              </a:rPr>
              <a:t>accompagnées</a:t>
            </a:r>
            <a:endParaRPr lang="de-DE" sz="1800" b="1">
              <a:solidFill>
                <a:srgbClr val="404040"/>
              </a:solidFill>
              <a:ea typeface="Calibri"/>
              <a:cs typeface="Calibri"/>
            </a:endParaRPr>
          </a:p>
          <a:p>
            <a:pPr lvl="1">
              <a:lnSpc>
                <a:spcPct val="100000"/>
              </a:lnSpc>
            </a:pPr>
            <a:r>
              <a:rPr lang="de-DE" sz="1400" err="1">
                <a:solidFill>
                  <a:srgbClr val="404040"/>
                </a:solidFill>
                <a:ea typeface="+mn-lt"/>
                <a:cs typeface="+mn-lt"/>
              </a:rPr>
              <a:t>Comptage</a:t>
            </a:r>
            <a:r>
              <a:rPr lang="de-DE" sz="1400">
                <a:solidFill>
                  <a:srgbClr val="404040"/>
                </a:solidFill>
                <a:ea typeface="+mn-lt"/>
                <a:cs typeface="+mn-lt"/>
              </a:rPr>
              <a:t> des </a:t>
            </a:r>
            <a:r>
              <a:rPr lang="de-DE" sz="1400" err="1">
                <a:solidFill>
                  <a:srgbClr val="404040"/>
                </a:solidFill>
                <a:ea typeface="+mn-lt"/>
                <a:cs typeface="+mn-lt"/>
              </a:rPr>
              <a:t>personnes</a:t>
            </a:r>
            <a:r>
              <a:rPr lang="de-DE" sz="1400">
                <a:solidFill>
                  <a:srgbClr val="404040"/>
                </a:solidFill>
                <a:ea typeface="+mn-lt"/>
                <a:cs typeface="+mn-lt"/>
              </a:rPr>
              <a:t> </a:t>
            </a:r>
            <a:r>
              <a:rPr lang="de-DE" sz="1400" err="1">
                <a:solidFill>
                  <a:srgbClr val="404040"/>
                </a:solidFill>
                <a:ea typeface="+mn-lt"/>
                <a:cs typeface="+mn-lt"/>
              </a:rPr>
              <a:t>accompagnées</a:t>
            </a:r>
            <a:r>
              <a:rPr lang="de-DE" sz="1400">
                <a:solidFill>
                  <a:srgbClr val="404040"/>
                </a:solidFill>
                <a:ea typeface="+mn-lt"/>
                <a:cs typeface="+mn-lt"/>
              </a:rPr>
              <a:t> --&gt; </a:t>
            </a:r>
            <a:r>
              <a:rPr lang="de-DE" sz="1400" err="1">
                <a:solidFill>
                  <a:srgbClr val="404040"/>
                </a:solidFill>
                <a:ea typeface="+mn-lt"/>
                <a:cs typeface="+mn-lt"/>
              </a:rPr>
              <a:t>Donnée</a:t>
            </a:r>
            <a:r>
              <a:rPr lang="de-DE" sz="1400">
                <a:solidFill>
                  <a:srgbClr val="404040"/>
                </a:solidFill>
                <a:ea typeface="+mn-lt"/>
                <a:cs typeface="+mn-lt"/>
              </a:rPr>
              <a:t> administrative </a:t>
            </a:r>
            <a:endParaRPr lang="de-DE" sz="1400">
              <a:solidFill>
                <a:srgbClr val="404040"/>
              </a:solidFill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endParaRPr lang="de-DE" sz="1400">
              <a:solidFill>
                <a:srgbClr val="40404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9514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CB68-EFF4-8173-D9EF-8951F677D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de-DE" sz="4800" b="1" err="1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Outils</a:t>
            </a:r>
            <a:endParaRPr lang="en-US" sz="4800" err="1">
              <a:latin typeface="Calibri"/>
              <a:ea typeface="Calibri"/>
              <a:cs typeface="Calibri"/>
            </a:endParaRPr>
          </a:p>
          <a:p>
            <a:endParaRPr lang="en-US">
              <a:ea typeface="Calibri Light"/>
              <a:cs typeface="Calibri Ligh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44E2B1-BC73-D987-7E7D-01674F454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433" t="15796" r="6701" b="508"/>
          <a:stretch>
            <a:fillRect/>
          </a:stretch>
        </p:blipFill>
        <p:spPr>
          <a:xfrm>
            <a:off x="223768" y="1378195"/>
            <a:ext cx="1693785" cy="1824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0F3E0D-798E-C4E9-83C7-7ACA6DDCC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24" y="4029468"/>
            <a:ext cx="1705763" cy="15606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0D8CD3-B7AB-1EF4-03B7-C3427E2A39BE}"/>
              </a:ext>
            </a:extLst>
          </p:cNvPr>
          <p:cNvSpPr txBox="1"/>
          <p:nvPr/>
        </p:nvSpPr>
        <p:spPr>
          <a:xfrm>
            <a:off x="2525623" y="1722383"/>
            <a:ext cx="251094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Explorer </a:t>
            </a:r>
            <a:r>
              <a:rPr lang="en-US" err="1">
                <a:ea typeface="+mn-lt"/>
                <a:cs typeface="+mn-lt"/>
              </a:rPr>
              <a:t>rapidement</a:t>
            </a:r>
            <a:r>
              <a:rPr lang="en-US">
                <a:ea typeface="+mn-lt"/>
                <a:cs typeface="+mn-lt"/>
              </a:rPr>
              <a:t> le dataset, </a:t>
            </a:r>
            <a:r>
              <a:rPr lang="en-US" err="1">
                <a:ea typeface="+mn-lt"/>
                <a:cs typeface="+mn-lt"/>
              </a:rPr>
              <a:t>visualiser</a:t>
            </a:r>
            <a:r>
              <a:rPr lang="en-US">
                <a:ea typeface="+mn-lt"/>
                <a:cs typeface="+mn-lt"/>
              </a:rPr>
              <a:t> les premières tendances, faire des tris et </a:t>
            </a:r>
            <a:r>
              <a:rPr lang="en-US" err="1">
                <a:ea typeface="+mn-lt"/>
                <a:cs typeface="+mn-lt"/>
              </a:rPr>
              <a:t>filtres</a:t>
            </a:r>
            <a:r>
              <a:rPr lang="en-US">
                <a:ea typeface="+mn-lt"/>
                <a:cs typeface="+mn-lt"/>
              </a:rPr>
              <a:t> simples.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F934B-522D-BA97-F0C8-373CAD409465}"/>
              </a:ext>
            </a:extLst>
          </p:cNvPr>
          <p:cNvSpPr txBox="1"/>
          <p:nvPr/>
        </p:nvSpPr>
        <p:spPr>
          <a:xfrm>
            <a:off x="2630245" y="3784216"/>
            <a:ext cx="307230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+mn-lt"/>
                <a:cs typeface="+mn-lt"/>
              </a:rPr>
              <a:t>Utilisation</a:t>
            </a:r>
            <a:r>
              <a:rPr lang="en-US">
                <a:ea typeface="+mn-lt"/>
                <a:cs typeface="+mn-lt"/>
              </a:rPr>
              <a:t> de Pandas, NumPy, Matplotlib, Seaborn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6E0ACA-9FE1-FC71-7C23-A3A18F00F0FE}"/>
              </a:ext>
            </a:extLst>
          </p:cNvPr>
          <p:cNvSpPr txBox="1"/>
          <p:nvPr/>
        </p:nvSpPr>
        <p:spPr>
          <a:xfrm>
            <a:off x="2630433" y="4573146"/>
            <a:ext cx="3511825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600" err="1"/>
              <a:t>Nettoyage</a:t>
            </a:r>
            <a:r>
              <a:rPr lang="en-US" sz="1600"/>
              <a:t>, transformation et </a:t>
            </a:r>
            <a:r>
              <a:rPr lang="en-US" sz="1600" err="1"/>
              <a:t>analyse</a:t>
            </a:r>
            <a:r>
              <a:rPr lang="en-US" sz="1600"/>
              <a:t> de grands jeux de données.</a:t>
            </a:r>
            <a:endParaRPr lang="en-US" sz="16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1600"/>
          </a:p>
          <a:p>
            <a:pPr marL="228600" indent="-228600">
              <a:buFont typeface=""/>
              <a:buChar char="•"/>
            </a:pPr>
            <a:r>
              <a:rPr lang="en-US" sz="1600" err="1"/>
              <a:t>Calculs</a:t>
            </a:r>
            <a:r>
              <a:rPr lang="en-US" sz="1600"/>
              <a:t> </a:t>
            </a:r>
            <a:r>
              <a:rPr lang="en-US" sz="1600" err="1"/>
              <a:t>statistiques</a:t>
            </a:r>
            <a:r>
              <a:rPr lang="en-US" sz="1600"/>
              <a:t>, </a:t>
            </a:r>
            <a:r>
              <a:rPr lang="en-US" sz="1600" err="1"/>
              <a:t>création</a:t>
            </a:r>
            <a:r>
              <a:rPr lang="en-US" sz="1600"/>
              <a:t> de </a:t>
            </a:r>
            <a:r>
              <a:rPr lang="en-US" sz="1600" err="1"/>
              <a:t>visualisations</a:t>
            </a:r>
            <a:r>
              <a:rPr lang="en-US" sz="1600"/>
              <a:t> et </a:t>
            </a:r>
            <a:r>
              <a:rPr lang="en-US" sz="1600" err="1"/>
              <a:t>modélisation</a:t>
            </a:r>
            <a:r>
              <a:rPr lang="en-US" sz="1600"/>
              <a:t> </a:t>
            </a:r>
            <a:r>
              <a:rPr lang="en-US" sz="1600" err="1"/>
              <a:t>prédictive</a:t>
            </a:r>
            <a:r>
              <a:rPr lang="en-US" sz="1600"/>
              <a:t>.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547C62-4FFF-9827-24BB-AB5AF5E77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611" y="1555612"/>
            <a:ext cx="2253560" cy="1118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F153DA-C97F-192D-4C50-CB21B2A83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805" y="3235584"/>
            <a:ext cx="2046081" cy="15687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488CB6-ADF2-CF3A-1370-723C70F729A4}"/>
              </a:ext>
            </a:extLst>
          </p:cNvPr>
          <p:cNvSpPr txBox="1"/>
          <p:nvPr/>
        </p:nvSpPr>
        <p:spPr>
          <a:xfrm>
            <a:off x="9365351" y="1719561"/>
            <a:ext cx="16975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Gestion de </a:t>
            </a:r>
            <a:r>
              <a:rPr lang="en-US" err="1">
                <a:ea typeface="Calibri"/>
                <a:cs typeface="Calibri"/>
              </a:rPr>
              <a:t>projet</a:t>
            </a:r>
            <a:endParaRPr lang="en-US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5CA3F7-C49C-CD14-D605-955657C20C78}"/>
              </a:ext>
            </a:extLst>
          </p:cNvPr>
          <p:cNvSpPr txBox="1"/>
          <p:nvPr/>
        </p:nvSpPr>
        <p:spPr>
          <a:xfrm>
            <a:off x="9230121" y="3913968"/>
            <a:ext cx="21667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>
                <a:ea typeface="Calibri"/>
                <a:cs typeface="Calibri"/>
              </a:rPr>
              <a:t>Visualisation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439DE0-B904-6116-579C-3EEE13BF66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0413" y="5132249"/>
            <a:ext cx="1684130" cy="15741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DBF74A1-3704-6586-5ED3-29868FD08ABB}"/>
              </a:ext>
            </a:extLst>
          </p:cNvPr>
          <p:cNvSpPr txBox="1"/>
          <p:nvPr/>
        </p:nvSpPr>
        <p:spPr>
          <a:xfrm>
            <a:off x="9252208" y="5307954"/>
            <a:ext cx="213918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Calibri"/>
                <a:cs typeface="Calibri"/>
              </a:rPr>
              <a:t>Implémentation</a:t>
            </a:r>
            <a:r>
              <a:rPr lang="en-US">
                <a:ea typeface="Calibri"/>
                <a:cs typeface="Calibri"/>
              </a:rPr>
              <a:t> des </a:t>
            </a:r>
            <a:r>
              <a:rPr lang="en-US" err="1">
                <a:ea typeface="Calibri"/>
                <a:cs typeface="Calibri"/>
              </a:rPr>
              <a:t>modèles</a:t>
            </a:r>
            <a:r>
              <a:rPr lang="en-US">
                <a:ea typeface="Calibri"/>
                <a:cs typeface="Calibri"/>
              </a:rPr>
              <a:t> de prediction</a:t>
            </a:r>
          </a:p>
        </p:txBody>
      </p:sp>
    </p:spTree>
    <p:extLst>
      <p:ext uri="{BB962C8B-B14F-4D97-AF65-F5344CB8AC3E}">
        <p14:creationId xmlns:p14="http://schemas.microsoft.com/office/powerpoint/2010/main" val="197569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643A-45B1-2076-53D9-3F56DA975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D512DB-41AD-5555-6A1D-6035F88B4F35}"/>
              </a:ext>
            </a:extLst>
          </p:cNvPr>
          <p:cNvSpPr txBox="1"/>
          <p:nvPr/>
        </p:nvSpPr>
        <p:spPr>
          <a:xfrm>
            <a:off x="-856" y="2247573"/>
            <a:ext cx="289068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err="1">
                <a:ea typeface="+mn-lt"/>
                <a:cs typeface="+mn-lt"/>
              </a:rPr>
              <a:t>Définition</a:t>
            </a:r>
            <a:r>
              <a:rPr lang="en-US" b="1">
                <a:ea typeface="+mn-lt"/>
                <a:cs typeface="+mn-lt"/>
              </a:rPr>
              <a:t> du cadre et des </a:t>
            </a:r>
            <a:r>
              <a:rPr lang="en-US" b="1" err="1">
                <a:ea typeface="+mn-lt"/>
                <a:cs typeface="+mn-lt"/>
              </a:rPr>
              <a:t>objectifs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500CC8-B331-837A-E62D-ACA867AA10C6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 err="1">
                <a:solidFill>
                  <a:schemeClr val="accent4"/>
                </a:solidFill>
              </a:rPr>
              <a:t>Étapes</a:t>
            </a:r>
            <a:endParaRPr lang="en-US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631EBD-88E0-C524-BAE5-A3E873731CFC}"/>
              </a:ext>
            </a:extLst>
          </p:cNvPr>
          <p:cNvSpPr txBox="1"/>
          <p:nvPr/>
        </p:nvSpPr>
        <p:spPr>
          <a:xfrm>
            <a:off x="3208379" y="2247573"/>
            <a:ext cx="289068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err="1">
                <a:ea typeface="+mn-lt"/>
                <a:cs typeface="+mn-lt"/>
              </a:rPr>
              <a:t>Préparation</a:t>
            </a:r>
            <a:r>
              <a:rPr lang="en-US" b="1">
                <a:ea typeface="+mn-lt"/>
                <a:cs typeface="+mn-lt"/>
              </a:rPr>
              <a:t> et </a:t>
            </a:r>
            <a:r>
              <a:rPr lang="en-US" b="1" err="1">
                <a:ea typeface="+mn-lt"/>
                <a:cs typeface="+mn-lt"/>
              </a:rPr>
              <a:t>nettoyage</a:t>
            </a:r>
            <a:r>
              <a:rPr lang="en-US" b="1">
                <a:ea typeface="+mn-lt"/>
                <a:cs typeface="+mn-lt"/>
              </a:rPr>
              <a:t> des données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79024-8C41-9B93-87B9-7237BC516D1A}"/>
              </a:ext>
            </a:extLst>
          </p:cNvPr>
          <p:cNvSpPr txBox="1"/>
          <p:nvPr/>
        </p:nvSpPr>
        <p:spPr>
          <a:xfrm>
            <a:off x="6251962" y="2181312"/>
            <a:ext cx="289068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err="1">
                <a:ea typeface="+mn-lt"/>
                <a:cs typeface="+mn-lt"/>
              </a:rPr>
              <a:t>Analyse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exploratoire</a:t>
            </a:r>
            <a:r>
              <a:rPr lang="en-US" b="1">
                <a:ea typeface="+mn-lt"/>
                <a:cs typeface="+mn-lt"/>
              </a:rPr>
              <a:t> des données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3CECE7-F597-533B-13D8-AC386A4A8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57" y="3065206"/>
            <a:ext cx="1678857" cy="1678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13DFED-134A-26E7-E115-388354236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944" y="2906689"/>
            <a:ext cx="1896595" cy="1712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2A96C5-EA32-1B11-0EBD-D036E33DC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483" y="3065206"/>
            <a:ext cx="1678857" cy="16788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9BA87E-6843-40B4-078F-BA00D78D5FCB}"/>
              </a:ext>
            </a:extLst>
          </p:cNvPr>
          <p:cNvSpPr txBox="1"/>
          <p:nvPr/>
        </p:nvSpPr>
        <p:spPr>
          <a:xfrm>
            <a:off x="9299769" y="2246983"/>
            <a:ext cx="24244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ea typeface="+mn-lt"/>
                <a:cs typeface="+mn-lt"/>
              </a:rPr>
              <a:t>Modélisation</a:t>
            </a:r>
            <a:r>
              <a:rPr lang="en-US" b="1">
                <a:ea typeface="+mn-lt"/>
                <a:cs typeface="+mn-lt"/>
              </a:rPr>
              <a:t> et </a:t>
            </a:r>
            <a:r>
              <a:rPr lang="en-US" b="1" err="1">
                <a:ea typeface="+mn-lt"/>
                <a:cs typeface="+mn-lt"/>
              </a:rPr>
              <a:t>prédiction</a:t>
            </a:r>
            <a:endParaRPr lang="en-US" b="1" err="1"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933774-56CA-14D5-7988-93EBCBB48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9613" y="3065206"/>
            <a:ext cx="1678857" cy="16788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C056A72-1983-8013-A387-C8690EEFC019}"/>
              </a:ext>
            </a:extLst>
          </p:cNvPr>
          <p:cNvSpPr/>
          <p:nvPr/>
        </p:nvSpPr>
        <p:spPr>
          <a:xfrm>
            <a:off x="3211322" y="1716920"/>
            <a:ext cx="5935393" cy="3912536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89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236B-DD56-030A-8AD5-3C479580F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0C025D1-04B9-ADAA-770C-22E7104AD345}"/>
              </a:ext>
            </a:extLst>
          </p:cNvPr>
          <p:cNvSpPr txBox="1"/>
          <p:nvPr/>
        </p:nvSpPr>
        <p:spPr>
          <a:xfrm>
            <a:off x="573810" y="1396052"/>
            <a:ext cx="10559845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b="1" err="1">
                <a:ea typeface="+mn-lt"/>
                <a:cs typeface="+mn-lt"/>
              </a:rPr>
              <a:t>Travail</a:t>
            </a:r>
            <a:r>
              <a:rPr lang="de-DE" b="1">
                <a:ea typeface="+mn-lt"/>
                <a:cs typeface="+mn-lt"/>
              </a:rPr>
              <a:t> en </a:t>
            </a:r>
            <a:r>
              <a:rPr lang="de-DE" b="1" err="1">
                <a:ea typeface="+mn-lt"/>
                <a:cs typeface="+mn-lt"/>
              </a:rPr>
              <a:t>cours</a:t>
            </a:r>
            <a:r>
              <a:rPr lang="de-DE" b="1">
                <a:ea typeface="+mn-lt"/>
                <a:cs typeface="+mn-lt"/>
              </a:rPr>
              <a:t> 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de-DE" err="1">
                <a:ea typeface="+mn-lt"/>
                <a:cs typeface="+mn-lt"/>
              </a:rPr>
              <a:t>Joindre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les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différentes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sources</a:t>
            </a:r>
            <a:r>
              <a:rPr lang="de-DE">
                <a:ea typeface="+mn-lt"/>
                <a:cs typeface="+mn-lt"/>
              </a:rPr>
              <a:t> (</a:t>
            </a:r>
            <a:r>
              <a:rPr lang="de-DE" err="1">
                <a:ea typeface="+mn-lt"/>
                <a:cs typeface="+mn-lt"/>
              </a:rPr>
              <a:t>annuel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vs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trimestriel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vs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mensuel</a:t>
            </a:r>
            <a:r>
              <a:rPr lang="de-DE">
                <a:ea typeface="+mn-lt"/>
                <a:cs typeface="+mn-lt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de-DE">
                <a:ea typeface="Calibri"/>
                <a:cs typeface="Calibri"/>
              </a:rPr>
              <a:t>Gestion des </a:t>
            </a:r>
            <a:r>
              <a:rPr lang="de-DE" err="1">
                <a:ea typeface="Calibri"/>
                <a:cs typeface="Calibri"/>
              </a:rPr>
              <a:t>valeurs</a:t>
            </a:r>
            <a:r>
              <a:rPr lang="de-DE">
                <a:ea typeface="Calibri"/>
                <a:cs typeface="Calibri"/>
              </a:rPr>
              <a:t> </a:t>
            </a:r>
            <a:r>
              <a:rPr lang="de-DE" err="1">
                <a:ea typeface="Calibri"/>
                <a:cs typeface="Calibri"/>
              </a:rPr>
              <a:t>manquantes</a:t>
            </a:r>
            <a:r>
              <a:rPr lang="de-DE">
                <a:ea typeface="Calibri"/>
                <a:cs typeface="Calibri"/>
              </a:rPr>
              <a:t> (</a:t>
            </a:r>
            <a:r>
              <a:rPr lang="de-DE" err="1">
                <a:ea typeface="Calibri"/>
                <a:cs typeface="Calibri"/>
              </a:rPr>
              <a:t>différentes</a:t>
            </a:r>
            <a:r>
              <a:rPr lang="de-DE">
                <a:ea typeface="Calibri"/>
                <a:cs typeface="Calibri"/>
              </a:rPr>
              <a:t> </a:t>
            </a:r>
            <a:r>
              <a:rPr lang="de-DE" err="1">
                <a:ea typeface="Calibri"/>
                <a:cs typeface="Calibri"/>
              </a:rPr>
              <a:t>périodes</a:t>
            </a:r>
            <a:r>
              <a:rPr lang="de-DE">
                <a:ea typeface="Calibri"/>
                <a:cs typeface="Calibri"/>
              </a:rPr>
              <a:t> </a:t>
            </a:r>
            <a:r>
              <a:rPr lang="de-DE" err="1">
                <a:ea typeface="Calibri"/>
                <a:cs typeface="Calibri"/>
              </a:rPr>
              <a:t>selon</a:t>
            </a:r>
            <a:r>
              <a:rPr lang="de-DE">
                <a:ea typeface="Calibri"/>
                <a:cs typeface="Calibri"/>
              </a:rPr>
              <a:t> </a:t>
            </a:r>
            <a:r>
              <a:rPr lang="de-DE" err="1">
                <a:ea typeface="Calibri"/>
                <a:cs typeface="Calibri"/>
              </a:rPr>
              <a:t>les</a:t>
            </a:r>
            <a:r>
              <a:rPr lang="de-DE">
                <a:ea typeface="Calibri"/>
                <a:cs typeface="Calibri"/>
              </a:rPr>
              <a:t> </a:t>
            </a:r>
            <a:r>
              <a:rPr lang="de-DE" err="1">
                <a:ea typeface="Calibri"/>
                <a:cs typeface="Calibri"/>
              </a:rPr>
              <a:t>sources</a:t>
            </a:r>
            <a:r>
              <a:rPr lang="de-DE">
                <a:ea typeface="Calibri"/>
                <a:cs typeface="Calibri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de-DE">
                <a:ea typeface="Calibri"/>
                <a:cs typeface="Calibri"/>
              </a:rPr>
              <a:t>Transformation de </a:t>
            </a:r>
            <a:r>
              <a:rPr lang="de-DE" err="1">
                <a:ea typeface="Calibri"/>
                <a:cs typeface="Calibri"/>
              </a:rPr>
              <a:t>certains</a:t>
            </a:r>
            <a:r>
              <a:rPr lang="de-DE">
                <a:ea typeface="Calibri"/>
                <a:cs typeface="Calibri"/>
              </a:rPr>
              <a:t> </a:t>
            </a:r>
            <a:r>
              <a:rPr lang="de-DE" err="1">
                <a:ea typeface="Calibri"/>
                <a:cs typeface="Calibri"/>
              </a:rPr>
              <a:t>indicateurs</a:t>
            </a:r>
            <a:r>
              <a:rPr lang="de-DE">
                <a:ea typeface="Calibri"/>
                <a:cs typeface="Calibri"/>
              </a:rPr>
              <a:t> (</a:t>
            </a:r>
            <a:r>
              <a:rPr lang="de-DE" err="1">
                <a:ea typeface="Calibri"/>
                <a:cs typeface="Calibri"/>
              </a:rPr>
              <a:t>ipc</a:t>
            </a:r>
            <a:r>
              <a:rPr lang="de-DE">
                <a:ea typeface="Calibri"/>
                <a:cs typeface="Calibri"/>
              </a:rPr>
              <a:t> : </a:t>
            </a:r>
            <a:r>
              <a:rPr lang="de-DE" err="1">
                <a:ea typeface="Calibri"/>
                <a:cs typeface="Calibri"/>
              </a:rPr>
              <a:t>glissement</a:t>
            </a:r>
            <a:r>
              <a:rPr lang="de-DE">
                <a:ea typeface="Calibri"/>
                <a:cs typeface="Calibri"/>
              </a:rPr>
              <a:t> </a:t>
            </a:r>
            <a:r>
              <a:rPr lang="de-DE" err="1">
                <a:ea typeface="Calibri"/>
                <a:cs typeface="Calibri"/>
              </a:rPr>
              <a:t>annuel</a:t>
            </a:r>
            <a:r>
              <a:rPr lang="de-DE">
                <a:ea typeface="Calibri"/>
                <a:cs typeface="Calibri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de-DE">
                <a:ea typeface="Calibri"/>
                <a:cs typeface="Calibri"/>
              </a:rPr>
              <a:t>...</a:t>
            </a:r>
          </a:p>
          <a:p>
            <a:pPr marL="285750" indent="-285750">
              <a:buFont typeface="Arial"/>
              <a:buChar char="•"/>
            </a:pPr>
            <a:endParaRPr lang="de-DE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4D9310-4A6B-5C6A-8C40-5DBD6090410F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>
                <a:solidFill>
                  <a:schemeClr val="accent4"/>
                </a:solidFill>
                <a:ea typeface="Calibri"/>
                <a:cs typeface="Calibri"/>
              </a:rPr>
              <a:t>Jeu de </a:t>
            </a:r>
            <a:r>
              <a:rPr lang="de-DE" sz="4800" b="1" err="1">
                <a:solidFill>
                  <a:schemeClr val="accent4"/>
                </a:solidFill>
                <a:ea typeface="Calibri"/>
                <a:cs typeface="Calibri"/>
              </a:rPr>
              <a:t>données</a:t>
            </a:r>
            <a:r>
              <a:rPr lang="de-DE" sz="4800" b="1">
                <a:solidFill>
                  <a:schemeClr val="accent4"/>
                </a:solidFill>
                <a:ea typeface="Calibri"/>
                <a:cs typeface="Calibri"/>
              </a:rPr>
              <a:t> (final)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A9856-5E13-9A53-06A3-AE7266B93B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9" b="36236"/>
          <a:stretch>
            <a:fillRect/>
          </a:stretch>
        </p:blipFill>
        <p:spPr>
          <a:xfrm>
            <a:off x="150962" y="3139742"/>
            <a:ext cx="11890081" cy="34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92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08E9-CAC2-0E75-8046-ED9A1FE4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DC1BA98-FE04-F644-BAC4-FE11EE8FF73A}"/>
              </a:ext>
            </a:extLst>
          </p:cNvPr>
          <p:cNvSpPr txBox="1"/>
          <p:nvPr/>
        </p:nvSpPr>
        <p:spPr>
          <a:xfrm>
            <a:off x="698090" y="1715138"/>
            <a:ext cx="10559845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b="1" err="1">
                <a:ea typeface="+mn-lt"/>
                <a:cs typeface="+mn-lt"/>
              </a:rPr>
              <a:t>Interprétation</a:t>
            </a:r>
            <a:r>
              <a:rPr lang="de-DE" b="1">
                <a:ea typeface="+mn-lt"/>
                <a:cs typeface="+mn-lt"/>
              </a:rPr>
              <a:t> </a:t>
            </a:r>
            <a:r>
              <a:rPr lang="de-DE" b="1" err="1">
                <a:ea typeface="+mn-lt"/>
                <a:cs typeface="+mn-lt"/>
              </a:rPr>
              <a:t>socio-démographiques</a:t>
            </a:r>
            <a:r>
              <a:rPr lang="de-DE" b="1">
                <a:ea typeface="+mn-lt"/>
                <a:cs typeface="+mn-lt"/>
              </a:rPr>
              <a:t> :</a:t>
            </a:r>
          </a:p>
          <a:p>
            <a:endParaRPr lang="de-DE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de-DE" b="1" err="1">
                <a:ea typeface="+mn-lt"/>
                <a:cs typeface="+mn-lt"/>
              </a:rPr>
              <a:t>Facteurs</a:t>
            </a:r>
            <a:r>
              <a:rPr lang="de-DE" b="1">
                <a:ea typeface="+mn-lt"/>
                <a:cs typeface="+mn-lt"/>
              </a:rPr>
              <a:t> </a:t>
            </a:r>
            <a:r>
              <a:rPr lang="de-DE" b="1" err="1">
                <a:ea typeface="+mn-lt"/>
                <a:cs typeface="+mn-lt"/>
              </a:rPr>
              <a:t>clés</a:t>
            </a:r>
            <a:r>
              <a:rPr lang="de-DE" b="1">
                <a:ea typeface="+mn-lt"/>
                <a:cs typeface="+mn-lt"/>
              </a:rPr>
              <a:t> :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Quels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groupes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sont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les</a:t>
            </a:r>
            <a:r>
              <a:rPr lang="de-DE">
                <a:ea typeface="+mn-lt"/>
                <a:cs typeface="+mn-lt"/>
              </a:rPr>
              <a:t> plus </a:t>
            </a:r>
            <a:r>
              <a:rPr lang="de-DE" err="1">
                <a:ea typeface="+mn-lt"/>
                <a:cs typeface="+mn-lt"/>
              </a:rPr>
              <a:t>exposés</a:t>
            </a:r>
            <a:r>
              <a:rPr lang="de-DE">
                <a:ea typeface="+mn-lt"/>
                <a:cs typeface="+mn-lt"/>
              </a:rPr>
              <a:t> ?</a:t>
            </a:r>
            <a:endParaRPr lang="de-DE"/>
          </a:p>
          <a:p>
            <a:pPr marL="285750" indent="-285750">
              <a:buFont typeface="Arial"/>
              <a:buChar char="•"/>
            </a:pPr>
            <a:r>
              <a:rPr lang="de-DE" b="1" err="1">
                <a:ea typeface="+mn-lt"/>
                <a:cs typeface="+mn-lt"/>
              </a:rPr>
              <a:t>Inégalités</a:t>
            </a:r>
            <a:r>
              <a:rPr lang="de-DE" b="1">
                <a:ea typeface="+mn-lt"/>
                <a:cs typeface="+mn-lt"/>
              </a:rPr>
              <a:t> </a:t>
            </a:r>
            <a:r>
              <a:rPr lang="de-DE" b="1" err="1">
                <a:ea typeface="+mn-lt"/>
                <a:cs typeface="+mn-lt"/>
              </a:rPr>
              <a:t>persistantes</a:t>
            </a:r>
            <a:r>
              <a:rPr lang="de-DE" b="1">
                <a:ea typeface="+mn-lt"/>
                <a:cs typeface="+mn-lt"/>
              </a:rPr>
              <a:t> :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hommes</a:t>
            </a:r>
            <a:r>
              <a:rPr lang="de-DE">
                <a:ea typeface="+mn-lt"/>
                <a:cs typeface="+mn-lt"/>
              </a:rPr>
              <a:t>/</a:t>
            </a:r>
            <a:r>
              <a:rPr lang="de-DE" err="1">
                <a:ea typeface="+mn-lt"/>
                <a:cs typeface="+mn-lt"/>
              </a:rPr>
              <a:t>femmes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âge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régions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niveaux</a:t>
            </a:r>
            <a:r>
              <a:rPr lang="de-DE">
                <a:ea typeface="+mn-lt"/>
                <a:cs typeface="+mn-lt"/>
              </a:rPr>
              <a:t> de </a:t>
            </a:r>
            <a:r>
              <a:rPr lang="de-DE" err="1">
                <a:ea typeface="+mn-lt"/>
                <a:cs typeface="+mn-lt"/>
              </a:rPr>
              <a:t>diplôme</a:t>
            </a:r>
            <a:r>
              <a:rPr lang="de-DE">
                <a:ea typeface="+mn-lt"/>
                <a:cs typeface="+mn-lt"/>
              </a:rPr>
              <a:t>.</a:t>
            </a:r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225DCF-01FB-CE7D-4E54-3420FE124DE6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 err="1">
                <a:solidFill>
                  <a:schemeClr val="accent4"/>
                </a:solidFill>
              </a:rPr>
              <a:t>Indicateurs</a:t>
            </a:r>
            <a:r>
              <a:rPr lang="de-DE" sz="4800" b="1">
                <a:solidFill>
                  <a:schemeClr val="accent4"/>
                </a:solidFill>
              </a:rPr>
              <a:t> à </a:t>
            </a:r>
            <a:r>
              <a:rPr lang="de-DE" sz="4800" b="1" err="1">
                <a:solidFill>
                  <a:schemeClr val="accent4"/>
                </a:solidFill>
              </a:rPr>
              <a:t>interpréter</a:t>
            </a:r>
            <a:endParaRPr lang="de-DE" sz="4800" b="1" err="1">
              <a:solidFill>
                <a:schemeClr val="accent4"/>
              </a:solidFill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A6394-F91F-0E81-BB6D-7E14C893FD24}"/>
              </a:ext>
            </a:extLst>
          </p:cNvPr>
          <p:cNvSpPr txBox="1"/>
          <p:nvPr/>
        </p:nvSpPr>
        <p:spPr>
          <a:xfrm>
            <a:off x="698090" y="3644165"/>
            <a:ext cx="10559845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b="1" err="1">
                <a:ea typeface="+mn-lt"/>
                <a:cs typeface="+mn-lt"/>
              </a:rPr>
              <a:t>Interprétation</a:t>
            </a:r>
            <a:r>
              <a:rPr lang="de-DE" b="1">
                <a:ea typeface="+mn-lt"/>
                <a:cs typeface="+mn-lt"/>
              </a:rPr>
              <a:t> </a:t>
            </a:r>
            <a:r>
              <a:rPr lang="de-DE" b="1" err="1">
                <a:ea typeface="+mn-lt"/>
                <a:cs typeface="+mn-lt"/>
              </a:rPr>
              <a:t>macro-économiques</a:t>
            </a:r>
            <a:r>
              <a:rPr lang="de-DE" b="1">
                <a:ea typeface="+mn-lt"/>
                <a:cs typeface="+mn-lt"/>
              </a:rPr>
              <a:t> :</a:t>
            </a:r>
          </a:p>
          <a:p>
            <a:pPr marL="285750" indent="-285750">
              <a:buFont typeface="Arial"/>
              <a:buChar char="•"/>
            </a:pPr>
            <a:r>
              <a:rPr lang="de-DE" b="1" err="1">
                <a:ea typeface="+mn-lt"/>
                <a:cs typeface="+mn-lt"/>
              </a:rPr>
              <a:t>Activité</a:t>
            </a:r>
            <a:r>
              <a:rPr lang="de-DE" b="1">
                <a:ea typeface="+mn-lt"/>
                <a:cs typeface="+mn-lt"/>
              </a:rPr>
              <a:t> </a:t>
            </a:r>
            <a:r>
              <a:rPr lang="de-DE" b="1" err="1">
                <a:ea typeface="+mn-lt"/>
                <a:cs typeface="+mn-lt"/>
              </a:rPr>
              <a:t>Économique</a:t>
            </a:r>
            <a:r>
              <a:rPr lang="de-DE" b="1">
                <a:ea typeface="+mn-lt"/>
                <a:cs typeface="+mn-lt"/>
              </a:rPr>
              <a:t> :  </a:t>
            </a:r>
            <a:r>
              <a:rPr lang="de-DE">
                <a:ea typeface="+mn-lt"/>
                <a:cs typeface="+mn-lt"/>
              </a:rPr>
              <a:t>PIB (Volume), </a:t>
            </a:r>
            <a:r>
              <a:rPr lang="de-DE" err="1">
                <a:ea typeface="+mn-lt"/>
                <a:cs typeface="+mn-lt"/>
              </a:rPr>
              <a:t>Défaillances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d'entreprises</a:t>
            </a:r>
            <a:r>
              <a:rPr lang="de-DE">
                <a:ea typeface="+mn-lt"/>
                <a:cs typeface="+mn-lt"/>
              </a:rPr>
              <a:t> (</a:t>
            </a:r>
            <a:r>
              <a:rPr lang="de-DE" err="1">
                <a:ea typeface="+mn-lt"/>
                <a:cs typeface="+mn-lt"/>
              </a:rPr>
              <a:t>Mesure</a:t>
            </a:r>
            <a:r>
              <a:rPr lang="de-DE">
                <a:ea typeface="+mn-lt"/>
                <a:cs typeface="+mn-lt"/>
              </a:rPr>
              <a:t> la </a:t>
            </a:r>
            <a:r>
              <a:rPr lang="de-DE" err="1">
                <a:ea typeface="+mn-lt"/>
                <a:cs typeface="+mn-lt"/>
              </a:rPr>
              <a:t>santé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actuelle</a:t>
            </a:r>
            <a:r>
              <a:rPr lang="de-DE">
                <a:ea typeface="+mn-lt"/>
                <a:cs typeface="+mn-lt"/>
              </a:rPr>
              <a:t> des </a:t>
            </a:r>
            <a:r>
              <a:rPr lang="de-DE" err="1">
                <a:ea typeface="+mn-lt"/>
                <a:cs typeface="+mn-lt"/>
              </a:rPr>
              <a:t>entreprises</a:t>
            </a:r>
            <a:r>
              <a:rPr lang="de-DE">
                <a:ea typeface="+mn-lt"/>
                <a:cs typeface="+mn-lt"/>
              </a:rPr>
              <a:t>).</a:t>
            </a:r>
            <a:endParaRPr lang="de-DE" err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de-DE" b="1" err="1">
                <a:ea typeface="+mn-lt"/>
                <a:cs typeface="+mn-lt"/>
              </a:rPr>
              <a:t>Anticipation</a:t>
            </a:r>
            <a:r>
              <a:rPr lang="de-DE" b="1">
                <a:ea typeface="+mn-lt"/>
                <a:cs typeface="+mn-lt"/>
              </a:rPr>
              <a:t> : </a:t>
            </a:r>
            <a:r>
              <a:rPr lang="de-DE">
                <a:ea typeface="+mn-lt"/>
                <a:cs typeface="+mn-lt"/>
              </a:rPr>
              <a:t>Climat des </a:t>
            </a:r>
            <a:r>
              <a:rPr lang="de-DE" err="1">
                <a:ea typeface="+mn-lt"/>
                <a:cs typeface="+mn-lt"/>
              </a:rPr>
              <a:t>Affaires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Climat</a:t>
            </a:r>
            <a:r>
              <a:rPr lang="de-DE">
                <a:ea typeface="+mn-lt"/>
                <a:cs typeface="+mn-lt"/>
              </a:rPr>
              <a:t> de </a:t>
            </a:r>
            <a:r>
              <a:rPr lang="de-DE" err="1">
                <a:ea typeface="+mn-lt"/>
                <a:cs typeface="+mn-lt"/>
              </a:rPr>
              <a:t>l'Emploi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Intérim</a:t>
            </a:r>
            <a:r>
              <a:rPr lang="de-DE">
                <a:ea typeface="+mn-lt"/>
                <a:cs typeface="+mn-lt"/>
              </a:rPr>
              <a:t> (</a:t>
            </a:r>
            <a:r>
              <a:rPr lang="de-DE" err="1">
                <a:ea typeface="+mn-lt"/>
                <a:cs typeface="+mn-lt"/>
              </a:rPr>
              <a:t>Prédit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les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retournements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futurs</a:t>
            </a:r>
            <a:r>
              <a:rPr lang="de-DE">
                <a:ea typeface="+mn-lt"/>
                <a:cs typeface="+mn-lt"/>
              </a:rPr>
              <a:t>; </a:t>
            </a:r>
            <a:r>
              <a:rPr lang="de-DE" err="1">
                <a:ea typeface="+mn-lt"/>
                <a:cs typeface="+mn-lt"/>
              </a:rPr>
              <a:t>signaux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faibles</a:t>
            </a:r>
            <a:r>
              <a:rPr lang="de-DE">
                <a:ea typeface="+mn-lt"/>
                <a:cs typeface="+mn-lt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de-DE" b="1" err="1">
                <a:ea typeface="+mn-lt"/>
                <a:cs typeface="+mn-lt"/>
              </a:rPr>
              <a:t>Coûts</a:t>
            </a:r>
            <a:r>
              <a:rPr lang="de-DE" b="1">
                <a:ea typeface="+mn-lt"/>
                <a:cs typeface="+mn-lt"/>
              </a:rPr>
              <a:t> &amp; Finance :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Taux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Directeurs</a:t>
            </a:r>
            <a:r>
              <a:rPr lang="de-DE">
                <a:ea typeface="+mn-lt"/>
                <a:cs typeface="+mn-lt"/>
              </a:rPr>
              <a:t> (BCE), Inflation, </a:t>
            </a:r>
            <a:r>
              <a:rPr lang="de-DE" err="1">
                <a:ea typeface="+mn-lt"/>
                <a:cs typeface="+mn-lt"/>
              </a:rPr>
              <a:t>Coût</a:t>
            </a:r>
            <a:r>
              <a:rPr lang="de-DE">
                <a:ea typeface="+mn-lt"/>
                <a:cs typeface="+mn-lt"/>
              </a:rPr>
              <a:t> du </a:t>
            </a:r>
            <a:r>
              <a:rPr lang="de-DE" err="1">
                <a:ea typeface="+mn-lt"/>
                <a:cs typeface="+mn-lt"/>
              </a:rPr>
              <a:t>Travail</a:t>
            </a:r>
            <a:r>
              <a:rPr lang="de-DE">
                <a:ea typeface="+mn-lt"/>
                <a:cs typeface="+mn-lt"/>
              </a:rPr>
              <a:t> (</a:t>
            </a:r>
            <a:r>
              <a:rPr lang="de-DE" err="1">
                <a:ea typeface="+mn-lt"/>
                <a:cs typeface="+mn-lt"/>
              </a:rPr>
              <a:t>Mesure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les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freins</a:t>
            </a:r>
            <a:r>
              <a:rPr lang="de-DE">
                <a:ea typeface="+mn-lt"/>
                <a:cs typeface="+mn-lt"/>
              </a:rPr>
              <a:t> à </a:t>
            </a:r>
            <a:r>
              <a:rPr lang="de-DE" err="1">
                <a:ea typeface="+mn-lt"/>
                <a:cs typeface="+mn-lt"/>
              </a:rPr>
              <a:t>l'embauche</a:t>
            </a:r>
            <a:r>
              <a:rPr lang="de-DE">
                <a:ea typeface="+mn-lt"/>
                <a:cs typeface="+mn-lt"/>
              </a:rPr>
              <a:t>) </a:t>
            </a:r>
          </a:p>
          <a:p>
            <a:endParaRPr lang="de-DE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0157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9A701-9F63-6A20-0F8B-FD4593BA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43573B2-9192-89FB-B166-7FAD94B65BFE}"/>
              </a:ext>
            </a:extLst>
          </p:cNvPr>
          <p:cNvSpPr txBox="1"/>
          <p:nvPr/>
        </p:nvSpPr>
        <p:spPr>
          <a:xfrm>
            <a:off x="5446934" y="262881"/>
            <a:ext cx="675411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>
                <a:solidFill>
                  <a:schemeClr val="accent4"/>
                </a:solidFill>
                <a:ea typeface="Calibri"/>
                <a:cs typeface="Calibri"/>
              </a:rPr>
              <a:t>Description de la variable </a:t>
            </a:r>
            <a:r>
              <a:rPr lang="de-DE" sz="2800" b="1" err="1">
                <a:solidFill>
                  <a:schemeClr val="accent4"/>
                </a:solidFill>
                <a:ea typeface="Calibri"/>
                <a:cs typeface="Calibri"/>
              </a:rPr>
              <a:t>Taux</a:t>
            </a:r>
            <a:r>
              <a:rPr lang="de-DE" sz="2800" b="1">
                <a:solidFill>
                  <a:schemeClr val="accent4"/>
                </a:solidFill>
                <a:ea typeface="Calibri"/>
                <a:cs typeface="Calibri"/>
              </a:rPr>
              <a:t> de </a:t>
            </a:r>
            <a:r>
              <a:rPr lang="de-DE" sz="2800" b="1" err="1">
                <a:solidFill>
                  <a:schemeClr val="accent4"/>
                </a:solidFill>
                <a:ea typeface="Calibri"/>
                <a:cs typeface="Calibri"/>
              </a:rPr>
              <a:t>chômage</a:t>
            </a:r>
            <a:endParaRPr lang="de-DE" sz="2800" b="1">
              <a:solidFill>
                <a:schemeClr val="accent4"/>
              </a:solidFill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A00375-4125-60D9-57A8-06C8B575B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49" y="1221663"/>
            <a:ext cx="11943037" cy="547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2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E839-89F4-9ECF-C45F-F6FF44FE5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54F8AF-E317-BF22-AB2E-08A526276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77" y="1718809"/>
            <a:ext cx="8828162" cy="4581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6E0461-1680-DF30-7FC1-9E223F007DF0}"/>
              </a:ext>
            </a:extLst>
          </p:cNvPr>
          <p:cNvSpPr txBox="1"/>
          <p:nvPr/>
        </p:nvSpPr>
        <p:spPr>
          <a:xfrm>
            <a:off x="5446934" y="262881"/>
            <a:ext cx="675411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>
                <a:solidFill>
                  <a:schemeClr val="accent4"/>
                </a:solidFill>
                <a:ea typeface="Calibri"/>
                <a:cs typeface="Calibri"/>
              </a:rPr>
              <a:t>Description de la variable </a:t>
            </a:r>
            <a:r>
              <a:rPr lang="de-DE" sz="2800" b="1" err="1">
                <a:solidFill>
                  <a:schemeClr val="accent4"/>
                </a:solidFill>
                <a:ea typeface="Calibri"/>
                <a:cs typeface="Calibri"/>
              </a:rPr>
              <a:t>Taux</a:t>
            </a:r>
            <a:r>
              <a:rPr lang="de-DE" sz="2800" b="1">
                <a:solidFill>
                  <a:schemeClr val="accent4"/>
                </a:solidFill>
                <a:ea typeface="Calibri"/>
                <a:cs typeface="Calibri"/>
              </a:rPr>
              <a:t> de </a:t>
            </a:r>
            <a:r>
              <a:rPr lang="de-DE" sz="2800" b="1" err="1">
                <a:solidFill>
                  <a:schemeClr val="accent4"/>
                </a:solidFill>
                <a:ea typeface="Calibri"/>
                <a:cs typeface="Calibri"/>
              </a:rPr>
              <a:t>chômage</a:t>
            </a:r>
            <a:endParaRPr lang="de-DE" sz="2800" b="1">
              <a:solidFill>
                <a:schemeClr val="accent4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1476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6E489-9CB2-AE8F-2D65-74C987F85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003F570A-6D83-7C4B-4F16-DD6E9A987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3" y="1712752"/>
            <a:ext cx="11658600" cy="444423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261449-0065-DCF6-B481-D6E9DEA59E57}"/>
              </a:ext>
            </a:extLst>
          </p:cNvPr>
          <p:cNvSpPr txBox="1"/>
          <p:nvPr/>
        </p:nvSpPr>
        <p:spPr>
          <a:xfrm>
            <a:off x="5446934" y="262881"/>
            <a:ext cx="675411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b="1">
                <a:solidFill>
                  <a:schemeClr val="accent4"/>
                </a:solidFill>
                <a:ea typeface="Calibri"/>
                <a:cs typeface="Calibri"/>
              </a:rPr>
              <a:t>Description de la variable </a:t>
            </a:r>
            <a:r>
              <a:rPr lang="de-DE" sz="2800" b="1" err="1">
                <a:solidFill>
                  <a:schemeClr val="accent4"/>
                </a:solidFill>
                <a:ea typeface="Calibri"/>
                <a:cs typeface="Calibri"/>
              </a:rPr>
              <a:t>Taux</a:t>
            </a:r>
            <a:r>
              <a:rPr lang="de-DE" sz="2800" b="1">
                <a:solidFill>
                  <a:schemeClr val="accent4"/>
                </a:solidFill>
                <a:ea typeface="Calibri"/>
                <a:cs typeface="Calibri"/>
              </a:rPr>
              <a:t> de </a:t>
            </a:r>
            <a:r>
              <a:rPr lang="de-DE" sz="2800" b="1" err="1">
                <a:solidFill>
                  <a:schemeClr val="accent4"/>
                </a:solidFill>
                <a:ea typeface="Calibri"/>
                <a:cs typeface="Calibri"/>
              </a:rPr>
              <a:t>chômage</a:t>
            </a:r>
            <a:endParaRPr lang="de-DE" sz="2800" b="1">
              <a:solidFill>
                <a:schemeClr val="accent4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7871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35247-E98E-86F2-F3C8-9DD97328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EF49E60D-AE80-CDDF-D6A3-09B0365714C6}"/>
              </a:ext>
            </a:extLst>
          </p:cNvPr>
          <p:cNvSpPr txBox="1"/>
          <p:nvPr/>
        </p:nvSpPr>
        <p:spPr>
          <a:xfrm>
            <a:off x="5045052" y="267222"/>
            <a:ext cx="7413835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3200" b="1">
                <a:solidFill>
                  <a:schemeClr val="accent4"/>
                </a:solidFill>
                <a:ea typeface="Calibri"/>
                <a:cs typeface="Calibri"/>
              </a:rPr>
              <a:t>Description de la</a:t>
            </a:r>
            <a:r>
              <a:rPr lang="de-DE" sz="3600" b="1">
                <a:solidFill>
                  <a:schemeClr val="accent4"/>
                </a:solidFill>
                <a:ea typeface="Calibri"/>
                <a:cs typeface="Calibri"/>
              </a:rPr>
              <a:t> </a:t>
            </a:r>
            <a:r>
              <a:rPr lang="de-DE" sz="3200" b="1">
                <a:solidFill>
                  <a:schemeClr val="accent4"/>
                </a:solidFill>
                <a:ea typeface="Calibri"/>
                <a:cs typeface="Calibri"/>
              </a:rPr>
              <a:t>variable IPC </a:t>
            </a:r>
            <a:endParaRPr lang="de-DE" sz="3200">
              <a:solidFill>
                <a:schemeClr val="accent4"/>
              </a:solidFill>
              <a:ea typeface="Calibri"/>
              <a:cs typeface="Calibri"/>
            </a:endParaRPr>
          </a:p>
          <a:p>
            <a:pPr algn="r"/>
            <a:endParaRPr lang="de-DE" sz="4800" b="1">
              <a:solidFill>
                <a:schemeClr val="accent4"/>
              </a:solidFill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4B85ED-258A-378D-3618-EDC514D20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964" y="1221288"/>
            <a:ext cx="3581908" cy="28601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124C22-B980-8688-917D-10F1DFC93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477" y="1221288"/>
            <a:ext cx="4411595" cy="2849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46DB89-33B7-1867-72A8-B34567DFD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95" y="4373671"/>
            <a:ext cx="3597524" cy="239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C0B1C1-F2D0-7986-A118-A0C5D16CD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954" y="4081398"/>
            <a:ext cx="4510256" cy="268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58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7F012-C85E-E1E9-3FAE-8755998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72F77-3AFB-B486-8158-54C61281862A}"/>
              </a:ext>
            </a:extLst>
          </p:cNvPr>
          <p:cNvSpPr txBox="1"/>
          <p:nvPr/>
        </p:nvSpPr>
        <p:spPr>
          <a:xfrm>
            <a:off x="-856" y="2247573"/>
            <a:ext cx="289068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err="1">
                <a:ea typeface="+mn-lt"/>
                <a:cs typeface="+mn-lt"/>
              </a:rPr>
              <a:t>Définition</a:t>
            </a:r>
            <a:r>
              <a:rPr lang="en-US" b="1">
                <a:ea typeface="+mn-lt"/>
                <a:cs typeface="+mn-lt"/>
              </a:rPr>
              <a:t> du cadre et des </a:t>
            </a:r>
            <a:r>
              <a:rPr lang="en-US" b="1" err="1">
                <a:ea typeface="+mn-lt"/>
                <a:cs typeface="+mn-lt"/>
              </a:rPr>
              <a:t>objectifs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BB6A87-1B66-7CD8-5D7A-F7FC8AF669AF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>
                <a:solidFill>
                  <a:schemeClr val="accent4"/>
                </a:solidFill>
              </a:rPr>
              <a:t>Prochaine </a:t>
            </a:r>
            <a:r>
              <a:rPr lang="de-DE" sz="4800" b="1" err="1">
                <a:solidFill>
                  <a:schemeClr val="accent4"/>
                </a:solidFill>
              </a:rPr>
              <a:t>étapes</a:t>
            </a:r>
            <a:endParaRPr lang="en-US" err="1">
              <a:solidFill>
                <a:schemeClr val="accent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416C1C-C396-6DA9-5E3A-F759BA39EC1A}"/>
              </a:ext>
            </a:extLst>
          </p:cNvPr>
          <p:cNvSpPr txBox="1"/>
          <p:nvPr/>
        </p:nvSpPr>
        <p:spPr>
          <a:xfrm>
            <a:off x="3208379" y="2247573"/>
            <a:ext cx="289068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err="1">
                <a:ea typeface="+mn-lt"/>
                <a:cs typeface="+mn-lt"/>
              </a:rPr>
              <a:t>Préparation</a:t>
            </a:r>
            <a:r>
              <a:rPr lang="en-US" b="1">
                <a:ea typeface="+mn-lt"/>
                <a:cs typeface="+mn-lt"/>
              </a:rPr>
              <a:t> et </a:t>
            </a:r>
            <a:r>
              <a:rPr lang="en-US" b="1" err="1">
                <a:ea typeface="+mn-lt"/>
                <a:cs typeface="+mn-lt"/>
              </a:rPr>
              <a:t>nettoyage</a:t>
            </a:r>
            <a:r>
              <a:rPr lang="en-US" b="1">
                <a:ea typeface="+mn-lt"/>
                <a:cs typeface="+mn-lt"/>
              </a:rPr>
              <a:t> des données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FF779-6175-FC12-39F2-2944944DEE75}"/>
              </a:ext>
            </a:extLst>
          </p:cNvPr>
          <p:cNvSpPr txBox="1"/>
          <p:nvPr/>
        </p:nvSpPr>
        <p:spPr>
          <a:xfrm>
            <a:off x="6251962" y="2181312"/>
            <a:ext cx="289068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err="1">
                <a:ea typeface="+mn-lt"/>
                <a:cs typeface="+mn-lt"/>
              </a:rPr>
              <a:t>Analyse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exploratoire</a:t>
            </a:r>
            <a:r>
              <a:rPr lang="en-US" b="1">
                <a:ea typeface="+mn-lt"/>
                <a:cs typeface="+mn-lt"/>
              </a:rPr>
              <a:t> des données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0C0046-4E32-515C-E1A4-8139142ED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57" y="3065206"/>
            <a:ext cx="1678857" cy="1678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91289B-BBDD-0880-A52B-6D6F8E268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944" y="2906689"/>
            <a:ext cx="1896595" cy="1712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5F34DB-E243-8946-71AA-972879808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483" y="3065206"/>
            <a:ext cx="1678857" cy="16788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EF0113-96C1-34DC-FA12-BFDA489F8126}"/>
              </a:ext>
            </a:extLst>
          </p:cNvPr>
          <p:cNvSpPr txBox="1"/>
          <p:nvPr/>
        </p:nvSpPr>
        <p:spPr>
          <a:xfrm>
            <a:off x="9299769" y="2246983"/>
            <a:ext cx="24244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ea typeface="+mn-lt"/>
                <a:cs typeface="+mn-lt"/>
              </a:rPr>
              <a:t>Modélisation</a:t>
            </a:r>
            <a:r>
              <a:rPr lang="en-US" b="1">
                <a:ea typeface="+mn-lt"/>
                <a:cs typeface="+mn-lt"/>
              </a:rPr>
              <a:t> et </a:t>
            </a:r>
            <a:r>
              <a:rPr lang="en-US" b="1" err="1">
                <a:ea typeface="+mn-lt"/>
                <a:cs typeface="+mn-lt"/>
              </a:rPr>
              <a:t>prédiction</a:t>
            </a:r>
            <a:endParaRPr lang="en-US" b="1" err="1"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EC6AC9-994E-350F-27DA-57C33564D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9613" y="3065206"/>
            <a:ext cx="1678857" cy="167885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DB0837-44AB-F592-472E-9C42509CA58F}"/>
              </a:ext>
            </a:extLst>
          </p:cNvPr>
          <p:cNvSpPr/>
          <p:nvPr/>
        </p:nvSpPr>
        <p:spPr>
          <a:xfrm>
            <a:off x="6101171" y="1623467"/>
            <a:ext cx="5834752" cy="3912536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10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6353-42BF-4D40-882D-EFA485B52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2F3C8-EC7A-AF57-4ED3-05C3C8A2F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26855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ea typeface="Calibri Light"/>
                <a:cs typeface="Calibri Light"/>
              </a:rPr>
              <a:t>QUESTIONS / </a:t>
            </a:r>
            <a:r>
              <a:rPr lang="en-US" b="1" err="1">
                <a:ea typeface="Calibri Light"/>
                <a:cs typeface="Calibri Light"/>
              </a:rPr>
              <a:t>RÉPONSES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426768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2BFCE-D2B1-E3C4-1C1A-867128B2D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50C8D-C541-BCB9-DE43-B9107BCC0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30115"/>
            <a:ext cx="10515600" cy="40062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ea typeface="Calibri"/>
                <a:cs typeface="Calibri"/>
              </a:rPr>
              <a:t>Point 1</a:t>
            </a:r>
          </a:p>
          <a:p>
            <a:r>
              <a:rPr lang="en-US" sz="1700">
                <a:ea typeface="Calibri"/>
                <a:cs typeface="Calibri"/>
              </a:rPr>
              <a:t>Point 2</a:t>
            </a:r>
          </a:p>
          <a:p>
            <a:r>
              <a:rPr lang="en-US" sz="1700">
                <a:ea typeface="Calibri"/>
                <a:cs typeface="Calibri"/>
              </a:rPr>
              <a:t>Point 3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6565DE-81DC-CD64-D273-E82F46C24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32" y="1371956"/>
            <a:ext cx="11385430" cy="1030828"/>
          </a:xfrm>
        </p:spPr>
        <p:txBody>
          <a:bodyPr/>
          <a:lstStyle/>
          <a:p>
            <a:pPr algn="ctr"/>
            <a:r>
              <a:rPr lang="en-US" b="1">
                <a:ea typeface="Calibri Light"/>
                <a:cs typeface="Calibri Light"/>
              </a:rPr>
              <a:t>Discussions avec Mr. Bertrand (du 09/01/26)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649219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FD5ED-8AAE-9F3D-F629-F900D8DDD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9091-585F-B85E-3302-3F53F9CD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26855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ea typeface="Calibri Light"/>
                <a:cs typeface="Calibri Light"/>
              </a:rPr>
              <a:t>ANCIENNES SLIDES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15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DD177-427E-DA9E-9340-440B44854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30115"/>
            <a:ext cx="10515600" cy="40062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ea typeface="Calibri"/>
                <a:cs typeface="Calibri"/>
              </a:rPr>
              <a:t>Données OCDE : Quelle est la </a:t>
            </a:r>
            <a:r>
              <a:rPr lang="en-US" sz="1700" err="1">
                <a:ea typeface="Calibri"/>
                <a:cs typeface="Calibri"/>
              </a:rPr>
              <a:t>methodologie</a:t>
            </a:r>
            <a:r>
              <a:rPr lang="en-US" sz="1700">
                <a:ea typeface="Calibri"/>
                <a:cs typeface="Calibri"/>
              </a:rPr>
              <a:t> ? Est </a:t>
            </a:r>
            <a:r>
              <a:rPr lang="en-US" sz="1700" err="1">
                <a:ea typeface="Calibri"/>
                <a:cs typeface="Calibri"/>
              </a:rPr>
              <a:t>ce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que</a:t>
            </a:r>
            <a:r>
              <a:rPr lang="en-US" sz="1700">
                <a:ea typeface="Calibri"/>
                <a:cs typeface="Calibri"/>
              </a:rPr>
              <a:t> c est comparable </a:t>
            </a:r>
            <a:r>
              <a:rPr lang="en-US" sz="1700" err="1">
                <a:ea typeface="Calibri"/>
                <a:cs typeface="Calibri"/>
              </a:rPr>
              <a:t>ou</a:t>
            </a:r>
            <a:r>
              <a:rPr lang="en-US" sz="1700">
                <a:ea typeface="Calibri"/>
                <a:cs typeface="Calibri"/>
              </a:rPr>
              <a:t> pas avec la definition de France Travail?</a:t>
            </a:r>
          </a:p>
          <a:p>
            <a:r>
              <a:rPr lang="en-US" sz="1700" err="1">
                <a:ea typeface="Calibri"/>
                <a:cs typeface="Calibri"/>
              </a:rPr>
              <a:t>Taux</a:t>
            </a:r>
            <a:r>
              <a:rPr lang="en-US" sz="1700">
                <a:ea typeface="Calibri"/>
                <a:cs typeface="Calibri"/>
              </a:rPr>
              <a:t> de </a:t>
            </a:r>
            <a:r>
              <a:rPr lang="en-US" sz="1700" err="1">
                <a:ea typeface="Calibri"/>
                <a:cs typeface="Calibri"/>
              </a:rPr>
              <a:t>chômage</a:t>
            </a:r>
            <a:r>
              <a:rPr lang="en-US" sz="1700">
                <a:ea typeface="Calibri"/>
                <a:cs typeface="Calibri"/>
              </a:rPr>
              <a:t> chez les jeunes 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ea typeface="Calibri"/>
                <a:cs typeface="Calibri"/>
              </a:rPr>
              <a:t>Étude = </a:t>
            </a:r>
            <a:r>
              <a:rPr lang="en-US" sz="1700" err="1">
                <a:ea typeface="Calibri"/>
                <a:cs typeface="Calibri"/>
              </a:rPr>
              <a:t>chomage</a:t>
            </a:r>
            <a:r>
              <a:rPr lang="en-US" sz="1700">
                <a:ea typeface="Calibri"/>
                <a:cs typeface="Calibri"/>
              </a:rPr>
              <a:t> 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ea typeface="Calibri"/>
                <a:cs typeface="Calibri"/>
              </a:rPr>
              <a:t>Comment est </a:t>
            </a:r>
            <a:r>
              <a:rPr lang="en-US" sz="1700" err="1">
                <a:ea typeface="Calibri"/>
                <a:cs typeface="Calibri"/>
              </a:rPr>
              <a:t>defini</a:t>
            </a:r>
            <a:r>
              <a:rPr lang="en-US" sz="1700">
                <a:ea typeface="Calibri"/>
                <a:cs typeface="Calibri"/>
              </a:rPr>
              <a:t> le </a:t>
            </a:r>
            <a:r>
              <a:rPr lang="en-US" sz="1700" err="1">
                <a:ea typeface="Calibri"/>
                <a:cs typeface="Calibri"/>
              </a:rPr>
              <a:t>taux</a:t>
            </a:r>
            <a:r>
              <a:rPr lang="en-US" sz="1700">
                <a:ea typeface="Calibri"/>
                <a:cs typeface="Calibri"/>
              </a:rPr>
              <a:t> de </a:t>
            </a:r>
            <a:r>
              <a:rPr lang="en-US" sz="1700" err="1">
                <a:ea typeface="Calibri"/>
                <a:cs typeface="Calibri"/>
              </a:rPr>
              <a:t>chomage</a:t>
            </a:r>
            <a:r>
              <a:rPr lang="en-US" sz="1700">
                <a:ea typeface="Calibri"/>
                <a:cs typeface="Calibri"/>
              </a:rPr>
              <a:t> ?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700">
              <a:ea typeface="Calibri"/>
              <a:cs typeface="Calibri"/>
            </a:endParaRPr>
          </a:p>
          <a:p>
            <a:r>
              <a:rPr lang="en-US" sz="1700">
                <a:ea typeface="Calibri"/>
                <a:cs typeface="Calibri"/>
              </a:rPr>
              <a:t>Le </a:t>
            </a:r>
            <a:r>
              <a:rPr lang="en-US" sz="1700" err="1">
                <a:ea typeface="Calibri"/>
                <a:cs typeface="Calibri"/>
              </a:rPr>
              <a:t>nombre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d'offres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publiées</a:t>
            </a:r>
            <a:r>
              <a:rPr lang="en-US" sz="1700">
                <a:ea typeface="Calibri"/>
                <a:cs typeface="Calibri"/>
              </a:rPr>
              <a:t> sur les </a:t>
            </a:r>
            <a:r>
              <a:rPr lang="en-US" sz="1700" err="1">
                <a:ea typeface="Calibri"/>
                <a:cs typeface="Calibri"/>
              </a:rPr>
              <a:t>plateformes</a:t>
            </a:r>
            <a:r>
              <a:rPr lang="en-US" sz="1700">
                <a:ea typeface="Calibri"/>
                <a:cs typeface="Calibri"/>
              </a:rPr>
              <a:t> (indeed, </a:t>
            </a:r>
            <a:r>
              <a:rPr lang="en-US" sz="1700" err="1">
                <a:ea typeface="Calibri"/>
                <a:cs typeface="Calibri"/>
              </a:rPr>
              <a:t>linkedIn</a:t>
            </a:r>
            <a:r>
              <a:rPr lang="en-US" sz="1700">
                <a:ea typeface="Calibri"/>
                <a:cs typeface="Calibri"/>
              </a:rPr>
              <a:t>) : Est </a:t>
            </a:r>
            <a:r>
              <a:rPr lang="en-US" sz="1700" err="1">
                <a:ea typeface="Calibri"/>
                <a:cs typeface="Calibri"/>
              </a:rPr>
              <a:t>ce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qu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ils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proposent</a:t>
            </a:r>
            <a:r>
              <a:rPr lang="en-US" sz="1700">
                <a:ea typeface="Calibri"/>
                <a:cs typeface="Calibri"/>
              </a:rPr>
              <a:t> des chiffres </a:t>
            </a:r>
            <a:r>
              <a:rPr lang="en-US" sz="1700" err="1">
                <a:ea typeface="Calibri"/>
                <a:cs typeface="Calibri"/>
              </a:rPr>
              <a:t>ou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faudra</a:t>
            </a:r>
            <a:r>
              <a:rPr lang="en-US" sz="1700">
                <a:ea typeface="Calibri"/>
                <a:cs typeface="Calibri"/>
              </a:rPr>
              <a:t> t il faire du </a:t>
            </a:r>
            <a:r>
              <a:rPr lang="en-US" sz="1700" err="1">
                <a:ea typeface="Calibri"/>
                <a:cs typeface="Calibri"/>
              </a:rPr>
              <a:t>webscraping</a:t>
            </a:r>
            <a:r>
              <a:rPr lang="en-US" sz="1700">
                <a:ea typeface="Calibri"/>
                <a:cs typeface="Calibri"/>
              </a:rPr>
              <a:t> ?</a:t>
            </a:r>
          </a:p>
          <a:p>
            <a:r>
              <a:rPr lang="en-US" sz="1700">
                <a:ea typeface="Calibri"/>
                <a:cs typeface="Calibri"/>
              </a:rPr>
              <a:t>Quels </a:t>
            </a:r>
            <a:r>
              <a:rPr lang="en-US" sz="1700" err="1">
                <a:ea typeface="Calibri"/>
                <a:cs typeface="Calibri"/>
              </a:rPr>
              <a:t>autres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facteurs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peut</a:t>
            </a:r>
            <a:r>
              <a:rPr lang="en-US" sz="1700">
                <a:ea typeface="Calibri"/>
                <a:cs typeface="Calibri"/>
              </a:rPr>
              <a:t> on </a:t>
            </a:r>
            <a:r>
              <a:rPr lang="en-US" sz="1700" err="1">
                <a:ea typeface="Calibri"/>
                <a:cs typeface="Calibri"/>
              </a:rPr>
              <a:t>utiliser</a:t>
            </a:r>
            <a:r>
              <a:rPr lang="en-US" sz="1700">
                <a:ea typeface="Calibri"/>
                <a:cs typeface="Calibri"/>
              </a:rPr>
              <a:t> pour </a:t>
            </a:r>
            <a:r>
              <a:rPr lang="en-US" sz="1700" err="1">
                <a:ea typeface="Calibri"/>
                <a:cs typeface="Calibri"/>
              </a:rPr>
              <a:t>predire</a:t>
            </a:r>
            <a:r>
              <a:rPr lang="en-US" sz="1700">
                <a:ea typeface="Calibri"/>
                <a:cs typeface="Calibri"/>
              </a:rPr>
              <a:t> le </a:t>
            </a:r>
            <a:r>
              <a:rPr lang="en-US" sz="1700" err="1">
                <a:ea typeface="Calibri"/>
                <a:cs typeface="Calibri"/>
              </a:rPr>
              <a:t>chomage</a:t>
            </a:r>
            <a:r>
              <a:rPr lang="en-US" sz="1700">
                <a:ea typeface="Calibri"/>
                <a:cs typeface="Calibri"/>
              </a:rPr>
              <a:t> ? (</a:t>
            </a:r>
            <a:r>
              <a:rPr lang="en-US" sz="1700" err="1">
                <a:ea typeface="Calibri"/>
                <a:cs typeface="Calibri"/>
              </a:rPr>
              <a:t>exemple</a:t>
            </a:r>
            <a:r>
              <a:rPr lang="en-US" sz="1700">
                <a:ea typeface="Calibri"/>
                <a:cs typeface="Calibri"/>
              </a:rPr>
              <a:t>, </a:t>
            </a:r>
            <a:r>
              <a:rPr lang="en-US" sz="1700" err="1">
                <a:ea typeface="Calibri"/>
                <a:cs typeface="Calibri"/>
              </a:rPr>
              <a:t>facteurs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economiques</a:t>
            </a:r>
            <a:r>
              <a:rPr lang="en-US" sz="1700">
                <a:ea typeface="Calibri"/>
                <a:cs typeface="Calibri"/>
              </a:rPr>
              <a:t> … à </a:t>
            </a:r>
            <a:r>
              <a:rPr lang="en-US" sz="1700" err="1">
                <a:ea typeface="Calibri"/>
                <a:cs typeface="Calibri"/>
              </a:rPr>
              <a:t>creuser</a:t>
            </a:r>
            <a:r>
              <a:rPr lang="en-US" sz="1700">
                <a:ea typeface="Calibri"/>
                <a:cs typeface="Calibri"/>
              </a:rPr>
              <a:t>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4160EB-1936-3761-8FCC-079EE3613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549" y="1285692"/>
            <a:ext cx="11385430" cy="1030828"/>
          </a:xfrm>
        </p:spPr>
        <p:txBody>
          <a:bodyPr/>
          <a:lstStyle/>
          <a:p>
            <a:pPr algn="ctr"/>
            <a:r>
              <a:rPr lang="en-US" b="1" err="1">
                <a:ea typeface="Calibri Light"/>
                <a:cs typeface="Calibri Light"/>
              </a:rPr>
              <a:t>Echange</a:t>
            </a:r>
            <a:r>
              <a:rPr lang="en-US" b="1">
                <a:ea typeface="Calibri Light"/>
                <a:cs typeface="Calibri Light"/>
              </a:rPr>
              <a:t> avec Mr. Bertrand (du 01/10/25)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716468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CD9A1-92DC-A466-592A-7EC8EAA6E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E627-3637-3DDC-D93B-71035F089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549" y="1285692"/>
            <a:ext cx="11385430" cy="1030828"/>
          </a:xfrm>
        </p:spPr>
        <p:txBody>
          <a:bodyPr/>
          <a:lstStyle/>
          <a:p>
            <a:pPr algn="ctr"/>
            <a:r>
              <a:rPr lang="en-US" b="1" err="1">
                <a:ea typeface="Calibri Light"/>
                <a:cs typeface="Calibri Light"/>
              </a:rPr>
              <a:t>Echange</a:t>
            </a:r>
            <a:r>
              <a:rPr lang="en-US" b="1">
                <a:ea typeface="Calibri Light"/>
                <a:cs typeface="Calibri Light"/>
              </a:rPr>
              <a:t> avec Mr. Bertrand (du 30/10/25)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2C85C-0472-A03C-F5EC-06C386C52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809" y="231153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de-DE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Comment </a:t>
            </a:r>
            <a:r>
              <a:rPr lang="de-DE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sont</a:t>
            </a:r>
            <a:r>
              <a:rPr lang="de-DE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ouverts</a:t>
            </a:r>
            <a:r>
              <a:rPr lang="de-DE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les</a:t>
            </a:r>
            <a:r>
              <a:rPr lang="de-DE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autres</a:t>
            </a:r>
            <a:r>
              <a:rPr lang="de-DE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pays</a:t>
            </a:r>
            <a:r>
              <a:rPr lang="de-DE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? Culture, plus d </a:t>
            </a:r>
            <a:r>
              <a:rPr lang="de-DE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infos</a:t>
            </a:r>
            <a:r>
              <a:rPr lang="de-DE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dans</a:t>
            </a:r>
            <a:r>
              <a:rPr lang="de-DE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d </a:t>
            </a:r>
            <a:r>
              <a:rPr lang="de-DE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autres</a:t>
            </a:r>
            <a:r>
              <a:rPr lang="de-DE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pays</a:t>
            </a:r>
            <a:r>
              <a:rPr lang="de-DE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ou</a:t>
            </a:r>
            <a:r>
              <a:rPr lang="de-DE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moins</a:t>
            </a:r>
            <a:r>
              <a:rPr lang="de-DE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? Quid du marche </a:t>
            </a:r>
            <a:r>
              <a:rPr lang="de-DE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americains</a:t>
            </a:r>
            <a:r>
              <a:rPr lang="de-DE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?</a:t>
            </a:r>
          </a:p>
          <a:p>
            <a:pPr>
              <a:lnSpc>
                <a:spcPct val="100000"/>
              </a:lnSpc>
            </a:pPr>
            <a:r>
              <a:rPr lang="de-DE" sz="1700" b="1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Economie</a:t>
            </a:r>
            <a:r>
              <a:rPr lang="de-DE" sz="1700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des </a:t>
            </a:r>
            <a:r>
              <a:rPr lang="de-DE" sz="1700" b="1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pays</a:t>
            </a:r>
            <a:r>
              <a:rPr lang="de-DE" sz="1700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? </a:t>
            </a:r>
            <a:endParaRPr lang="en-US" sz="17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Interactif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?</a:t>
            </a:r>
          </a:p>
          <a:p>
            <a:pPr>
              <a:lnSpc>
                <a:spcPct val="100000"/>
              </a:lnSpc>
            </a:pP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Prevoir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ce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qu’il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va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se passer dans les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années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qui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viennent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? À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partir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quand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un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modele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shift (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taux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d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erreurs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, re-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entrainement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des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modeles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pour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inclure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de Nouvelles variables;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indicateurs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de performance de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modeles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si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production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avoir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des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gardes-fous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Prochaine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fois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: BDD, description, structure, info,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fraicheur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, quid RGPD et re-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utilisation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. </a:t>
            </a:r>
            <a:endParaRPr lang="en-US" sz="17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Données pseudo-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anonymisés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? (ex: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radiologue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a interdiction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mettre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ligne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les radios des patients)</a:t>
            </a:r>
            <a:endParaRPr lang="en-US" sz="17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Chronogramme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(JIRA : </a:t>
            </a:r>
            <a:r>
              <a:rPr lang="en-US" sz="170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sequencage</a:t>
            </a:r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des taches)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4355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B790F-4A7D-B100-75E0-1C7CB5E0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3158-8A36-95FA-2EE6-764CFBF4E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153" y="1055655"/>
            <a:ext cx="10515600" cy="1325563"/>
          </a:xfrm>
        </p:spPr>
        <p:txBody>
          <a:bodyPr/>
          <a:lstStyle/>
          <a:p>
            <a:r>
              <a:rPr lang="en-US">
                <a:ea typeface="Calibri Light"/>
                <a:cs typeface="Calibri Light"/>
              </a:rPr>
              <a:t>To do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4760-AD3C-5B6B-98E8-8BC3395F2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51" y="274285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Font typeface="Wingdings"/>
              <a:buChar char="q"/>
            </a:pPr>
            <a:r>
              <a:rPr lang="de-DE" sz="180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Avoir</a:t>
            </a:r>
            <a:r>
              <a:rPr lang="de-DE" sz="180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180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un</a:t>
            </a:r>
            <a:r>
              <a:rPr lang="de-DE" sz="180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180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drive</a:t>
            </a:r>
            <a:r>
              <a:rPr lang="de-DE" sz="180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commun</a:t>
            </a:r>
            <a:endParaRPr lang="de-DE" sz="1800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pPr>
              <a:lnSpc>
                <a:spcPct val="100000"/>
              </a:lnSpc>
              <a:buFont typeface="Wingdings"/>
              <a:buChar char="q"/>
            </a:pPr>
            <a:r>
              <a:rPr lang="de-DE" sz="180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Création d </a:t>
            </a:r>
            <a:r>
              <a:rPr lang="de-DE" sz="180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un</a:t>
            </a:r>
            <a:r>
              <a:rPr lang="de-DE" sz="180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180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github</a:t>
            </a:r>
          </a:p>
          <a:p>
            <a:pPr>
              <a:lnSpc>
                <a:spcPct val="100000"/>
              </a:lnSpc>
              <a:buFont typeface="Wingdings"/>
              <a:buChar char="q"/>
            </a:pPr>
            <a:endParaRPr lang="de-DE" sz="1800">
              <a:solidFill>
                <a:srgbClr val="404040"/>
              </a:solidFill>
              <a:latin typeface="Century Gothic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8528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99F7-36A4-82B4-353B-E0B212ADC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3709659-D758-0B0F-AAD7-5C025DFEA89B}"/>
              </a:ext>
            </a:extLst>
          </p:cNvPr>
          <p:cNvSpPr txBox="1"/>
          <p:nvPr/>
        </p:nvSpPr>
        <p:spPr>
          <a:xfrm>
            <a:off x="698090" y="1461138"/>
            <a:ext cx="105598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de-DE"/>
              <a:t>INSEE :</a:t>
            </a:r>
            <a:r>
              <a:rPr lang="en-US"/>
              <a:t>​</a:t>
            </a:r>
          </a:p>
          <a:p>
            <a:pPr fontAlgn="base"/>
            <a:r>
              <a:rPr lang="de-DE" u="sng">
                <a:hlinkClick r:id="rId2"/>
              </a:rPr>
              <a:t>https://www.insee.fr/fr/statistiques/8376822?sommaire=8376908</a:t>
            </a:r>
            <a:r>
              <a:rPr lang="de-DE"/>
              <a:t>​</a:t>
            </a:r>
          </a:p>
          <a:p>
            <a:pPr fontAlgn="base"/>
            <a:r>
              <a:rPr lang="de-DE"/>
              <a:t>​</a:t>
            </a:r>
          </a:p>
          <a:p>
            <a:pPr fontAlgn="base"/>
            <a:r>
              <a:rPr lang="en-US" err="1"/>
              <a:t>Gouvernement</a:t>
            </a:r>
            <a:r>
              <a:rPr lang="en-US"/>
              <a:t> FR : ​</a:t>
            </a:r>
          </a:p>
          <a:p>
            <a:pPr fontAlgn="base"/>
            <a:r>
              <a:rPr lang="en-US" u="sng">
                <a:hlinkClick r:id="rId3"/>
              </a:rPr>
              <a:t>https://www.data.gouv.fr/datasets/marche-du-travail/</a:t>
            </a:r>
            <a:r>
              <a:rPr lang="en-US"/>
              <a:t>​</a:t>
            </a:r>
          </a:p>
          <a:p>
            <a:pPr fontAlgn="base"/>
            <a:r>
              <a:rPr lang="en-US" u="sng">
                <a:hlinkClick r:id="rId4"/>
              </a:rPr>
              <a:t>https://www.francetravail.org/opendata/</a:t>
            </a:r>
            <a:r>
              <a:rPr lang="en-US"/>
              <a:t> et </a:t>
            </a:r>
            <a:r>
              <a:rPr lang="en-US" u="sng">
                <a:hlinkClick r:id="rId5"/>
              </a:rPr>
              <a:t>https://dataemploi.francetravail.fr/emploi/accueil</a:t>
            </a:r>
            <a:r>
              <a:rPr lang="en-US"/>
              <a:t> ​</a:t>
            </a:r>
          </a:p>
          <a:p>
            <a:pPr fontAlgn="base"/>
            <a:r>
              <a:rPr lang="en-US"/>
              <a:t>​</a:t>
            </a:r>
          </a:p>
          <a:p>
            <a:pPr fontAlgn="base"/>
            <a:r>
              <a:rPr lang="en-US"/>
              <a:t>Europe​</a:t>
            </a:r>
          </a:p>
          <a:p>
            <a:pPr fontAlgn="base"/>
            <a:r>
              <a:rPr lang="en-US" u="sng">
                <a:hlinkClick r:id="rId6"/>
              </a:rPr>
              <a:t>https://ec.europa.eu/eurostat/fr/data/database</a:t>
            </a:r>
            <a:r>
              <a:rPr lang="en-US"/>
              <a:t>​</a:t>
            </a:r>
          </a:p>
          <a:p>
            <a:pPr fontAlgn="base"/>
            <a:endParaRPr lang="en-US"/>
          </a:p>
          <a:p>
            <a:pPr fontAlgn="base"/>
            <a:r>
              <a:rPr lang="en-US"/>
              <a:t>OCDE</a:t>
            </a:r>
          </a:p>
          <a:p>
            <a:pPr fontAlgn="base"/>
            <a:r>
              <a:rPr lang="en-US">
                <a:hlinkClick r:id="rId7"/>
              </a:rPr>
              <a:t>https://www.oecd.org/fr/data/datasets/oecd-DE.html</a:t>
            </a:r>
            <a:r>
              <a:rPr lang="en-US"/>
              <a:t> </a:t>
            </a:r>
          </a:p>
          <a:p>
            <a:pPr fontAlgn="base"/>
            <a:r>
              <a:rPr lang="en-US"/>
              <a:t>​</a:t>
            </a:r>
          </a:p>
          <a:p>
            <a:pPr fontAlgn="base"/>
            <a:r>
              <a:rPr lang="en-US" err="1"/>
              <a:t>Jobboards</a:t>
            </a:r>
            <a:r>
              <a:rPr lang="en-US"/>
              <a:t> : ​</a:t>
            </a:r>
          </a:p>
          <a:p>
            <a:pPr fontAlgn="base"/>
            <a:r>
              <a:rPr lang="en-US" u="sng">
                <a:hlinkClick r:id="rId8"/>
              </a:rPr>
              <a:t>https://fr.indeed.com/</a:t>
            </a:r>
            <a:r>
              <a:rPr lang="en-US"/>
              <a:t>​</a:t>
            </a:r>
          </a:p>
          <a:p>
            <a:pPr fontAlgn="base"/>
            <a:r>
              <a:rPr lang="en-US" u="sng">
                <a:hlinkClick r:id="rId9"/>
              </a:rPr>
              <a:t>https://www.monster.fr/</a:t>
            </a:r>
            <a:r>
              <a:rPr lang="en-US"/>
              <a:t>​</a:t>
            </a:r>
          </a:p>
          <a:p>
            <a:pPr fontAlgn="base"/>
            <a:r>
              <a:rPr lang="en-US" u="sng">
                <a:hlinkClick r:id="rId10"/>
              </a:rPr>
              <a:t>https://fr.linkedin.com/jobs</a:t>
            </a:r>
            <a:r>
              <a:rPr lang="en-US"/>
              <a:t> ​</a:t>
            </a:r>
          </a:p>
          <a:p>
            <a:pPr fontAlgn="base"/>
            <a:r>
              <a:rPr lang="en-US"/>
              <a:t>…​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E3763-C8D6-3BFD-7B11-56DEFDCBFE1F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4800" b="1" err="1">
                <a:solidFill>
                  <a:schemeClr val="accent4"/>
                </a:solidFill>
              </a:rPr>
              <a:t>Exemples</a:t>
            </a:r>
            <a:r>
              <a:rPr lang="de-DE" sz="4800" b="1">
                <a:solidFill>
                  <a:schemeClr val="accent4"/>
                </a:solidFill>
              </a:rPr>
              <a:t> de </a:t>
            </a:r>
            <a:r>
              <a:rPr lang="de-DE" sz="4800" b="1" err="1">
                <a:solidFill>
                  <a:schemeClr val="accent4"/>
                </a:solidFill>
              </a:rPr>
              <a:t>datasets</a:t>
            </a:r>
            <a:endParaRPr lang="de-DE" sz="48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278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E4A15-440E-A991-11DE-39C37431A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7AE05-766E-A23F-8FEF-5AFCD6B76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26855"/>
            <a:ext cx="10515600" cy="1325563"/>
          </a:xfrm>
        </p:spPr>
        <p:txBody>
          <a:bodyPr/>
          <a:lstStyle/>
          <a:p>
            <a:pPr algn="ctr"/>
            <a:r>
              <a:rPr lang="en-US" sz="4000" b="1">
                <a:ea typeface="Calibri Light"/>
                <a:cs typeface="Calibri Light"/>
              </a:rPr>
              <a:t>CHOIX MÉTHODOLOGIQUES</a:t>
            </a:r>
            <a:endParaRPr lang="en-US" sz="4000">
              <a:ea typeface="Calibri Light"/>
              <a:cs typeface="Calibri Light"/>
            </a:endParaRPr>
          </a:p>
          <a:p>
            <a:pPr algn="ctr"/>
            <a:endParaRPr lang="en-US" b="1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727818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86E8-C24E-598B-BC78-8294B84D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EB75ECA-D8D2-B9AF-44AC-2122D8AE5D6D}"/>
              </a:ext>
            </a:extLst>
          </p:cNvPr>
          <p:cNvSpPr txBox="1"/>
          <p:nvPr/>
        </p:nvSpPr>
        <p:spPr>
          <a:xfrm>
            <a:off x="550606" y="1844596"/>
            <a:ext cx="1055984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fr-FR" sz="1800" b="1" u="none" strike="noStrike">
                <a:solidFill>
                  <a:srgbClr val="404040"/>
                </a:solidFill>
                <a:effectLst/>
              </a:rPr>
              <a:t>Evolution et tendances :</a:t>
            </a:r>
            <a:r>
              <a:rPr lang="en-US" sz="1800" b="0">
                <a:effectLst/>
              </a:rPr>
              <a:t>​</a:t>
            </a:r>
            <a:endParaRPr lang="en-US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Comment le taux de chômage a-t-il évolué ces dix dernières années et quelles tendances peut-on prévoir pour les prochaines années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Quels sont les facteurs (âge, sexe, secteur d'activité, diplôme, région) qui influencent le plus le chômage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Quelles inégalités persistent entre hommes et femmes face à l’emploi et au chômage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Peut-on prédire l’évolution du chômage à partir des données actuelles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 rôle joue la formation dans la réduction du chômage et l’amélioration de l’employabilité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 impact ont eu les mesures d’aide à l’emploi sur la réduction du chômage ?</a:t>
            </a:r>
            <a:r>
              <a:rPr lang="en-US" sz="1800" b="0">
                <a:effectLst/>
              </a:rPr>
              <a:t>​</a:t>
            </a:r>
          </a:p>
          <a:p>
            <a:pPr algn="l" rtl="0" fontAlgn="base"/>
            <a:endParaRPr lang="en-US"/>
          </a:p>
          <a:p>
            <a:pPr algn="l" rtl="0" fontAlgn="base"/>
            <a:r>
              <a:rPr lang="fr-FR" sz="1800" b="1" u="none" strike="noStrike">
                <a:solidFill>
                  <a:srgbClr val="404040"/>
                </a:solidFill>
                <a:effectLst/>
              </a:rPr>
              <a:t>Vieillesse :</a:t>
            </a:r>
            <a:r>
              <a:rPr lang="en-US" sz="1800" b="0">
                <a:effectLst/>
              </a:rPr>
              <a:t>​</a:t>
            </a:r>
            <a:endParaRPr lang="en-US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Quels sont les principaux freins au maintien en emploi des travailleurs âgés et comment influencent-ils le taux de chômage des seniors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Dans quelle mesure l’âge constitue-t-il un facteur discriminant dans l’accès ou le retour à l’emploi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Comment l’évolution démographique et le vieillissement de la population impactent-ils le marché du travail et le taux de chômage des seniors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Quels dispositifs ou politiques publiques permettent de favoriser l’employabilité des travailleurs âgés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Quels secteurs d’activité intègrent le mieux les travailleurs âgés et lesquels les excluent davantage ?</a:t>
            </a:r>
            <a:r>
              <a:rPr lang="fr-FR" sz="1800" b="0">
                <a:effectLst/>
              </a:rPr>
              <a:t>​</a:t>
            </a:r>
            <a:endParaRPr lang="en-US" b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EAAC10-03FD-DCF5-AF77-FF416D72D77C}"/>
              </a:ext>
            </a:extLst>
          </p:cNvPr>
          <p:cNvSpPr txBox="1"/>
          <p:nvPr/>
        </p:nvSpPr>
        <p:spPr>
          <a:xfrm>
            <a:off x="550606" y="1259821"/>
            <a:ext cx="10722428" cy="595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base">
              <a:buNone/>
            </a:pPr>
            <a:r>
              <a:rPr lang="en-US" sz="3200" b="1" i="0" u="none" strike="noStrike" err="1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L’emploi</a:t>
            </a:r>
            <a:r>
              <a:rPr lang="en-US" sz="3200" b="1" i="0" u="none" strike="noStrike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3200" b="1" i="0" u="none" strike="noStrike" err="1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en</a:t>
            </a:r>
            <a:r>
              <a:rPr lang="en-US" sz="3200" b="1" i="0" u="none" strike="noStrike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 France</a:t>
            </a:r>
            <a:r>
              <a:rPr lang="en-US" sz="3200" b="0" i="0">
                <a:effectLst/>
                <a:latin typeface="Calibri"/>
                <a:ea typeface="Calibri"/>
                <a:cs typeface="Calibri"/>
              </a:rPr>
              <a:t>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29F1A1-C83C-3EC1-4C0E-B8F58906A218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>
                <a:solidFill>
                  <a:schemeClr val="accent4"/>
                </a:solidFill>
              </a:rPr>
              <a:t>Questionnement</a:t>
            </a:r>
          </a:p>
        </p:txBody>
      </p:sp>
    </p:spTree>
    <p:extLst>
      <p:ext uri="{BB962C8B-B14F-4D97-AF65-F5344CB8AC3E}">
        <p14:creationId xmlns:p14="http://schemas.microsoft.com/office/powerpoint/2010/main" val="3037999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ACC3-6112-A0F7-DFBE-537B5EBF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CFDC199-E83C-139D-7E27-51CCA9E5002D}"/>
              </a:ext>
            </a:extLst>
          </p:cNvPr>
          <p:cNvSpPr txBox="1"/>
          <p:nvPr/>
        </p:nvSpPr>
        <p:spPr>
          <a:xfrm>
            <a:off x="245307" y="1383834"/>
            <a:ext cx="1055984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2400" b="1" err="1"/>
              <a:t>Utilisation</a:t>
            </a:r>
            <a:r>
              <a:rPr lang="de-DE" sz="2400" b="1"/>
              <a:t> de Jira :</a:t>
            </a:r>
            <a:endParaRPr lang="en-US" sz="2400" b="1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7D5355-8912-74D3-6895-2425828D82E9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>
                <a:solidFill>
                  <a:schemeClr val="accent4"/>
                </a:solidFill>
              </a:rPr>
              <a:t>Gestion de </a:t>
            </a:r>
            <a:r>
              <a:rPr lang="de-DE" sz="4800" b="1" err="1">
                <a:solidFill>
                  <a:schemeClr val="accent4"/>
                </a:solidFill>
              </a:rPr>
              <a:t>projet</a:t>
            </a:r>
            <a:endParaRPr lang="en-US" err="1">
              <a:solidFill>
                <a:schemeClr val="accent4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923894-DFB1-BB96-8F5E-19AB0EB58B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47" b="-725"/>
          <a:stretch>
            <a:fillRect/>
          </a:stretch>
        </p:blipFill>
        <p:spPr>
          <a:xfrm>
            <a:off x="242956" y="2211067"/>
            <a:ext cx="11683149" cy="36959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0980AD52-E25E-C39A-6CEC-DE9450A51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925" y="1381440"/>
            <a:ext cx="1319755" cy="64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085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6f942e-b580-46a0-a9a7-34f8be6a2965" xsi:nil="true"/>
    <lcf76f155ced4ddcb4097134ff3c332f xmlns="63263aa9-0320-4a4d-9bea-9808219d94d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EFEF22F81D8545B8BEEA28B7C1CC9A" ma:contentTypeVersion="11" ma:contentTypeDescription="Crée un document." ma:contentTypeScope="" ma:versionID="291207d5701c9b879bceac013ec3e120">
  <xsd:schema xmlns:xsd="http://www.w3.org/2001/XMLSchema" xmlns:xs="http://www.w3.org/2001/XMLSchema" xmlns:p="http://schemas.microsoft.com/office/2006/metadata/properties" xmlns:ns2="63263aa9-0320-4a4d-9bea-9808219d94dc" xmlns:ns3="dc6f942e-b580-46a0-a9a7-34f8be6a2965" targetNamespace="http://schemas.microsoft.com/office/2006/metadata/properties" ma:root="true" ma:fieldsID="b114939c7576b27639ee21ba3987d60a" ns2:_="" ns3:_="">
    <xsd:import namespace="63263aa9-0320-4a4d-9bea-9808219d94dc"/>
    <xsd:import namespace="dc6f942e-b580-46a0-a9a7-34f8be6a29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63aa9-0320-4a4d-9bea-9808219d94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84f71e7f-fb48-44ed-9857-a0600dc7b1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6f942e-b580-46a0-a9a7-34f8be6a296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9b4224a-b606-4848-8afa-178a443a9715}" ma:internalName="TaxCatchAll" ma:showField="CatchAllData" ma:web="dc6f942e-b580-46a0-a9a7-34f8be6a29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83B16F-5443-41C8-B5AE-1AA01EB6D7CB}">
  <ds:schemaRefs>
    <ds:schemaRef ds:uri="63263aa9-0320-4a4d-9bea-9808219d94dc"/>
    <ds:schemaRef ds:uri="dc6f942e-b580-46a0-a9a7-34f8be6a296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73CA9A5-26E6-41B2-83B9-7587B90EB8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F5C42D-338D-40BE-89E4-9599AD88CDF8}">
  <ds:schemaRefs>
    <ds:schemaRef ds:uri="63263aa9-0320-4a4d-9bea-9808219d94dc"/>
    <ds:schemaRef ds:uri="dc6f942e-b580-46a0-a9a7-34f8be6a296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Outils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/ RÉPONSES</vt:lpstr>
      <vt:lpstr>Discussions avec Mr. Bertrand (du 09/01/26)</vt:lpstr>
      <vt:lpstr>ANCIENNES SLIDES</vt:lpstr>
      <vt:lpstr>Echange avec Mr. Bertrand (du 01/10/25)</vt:lpstr>
      <vt:lpstr>Echange avec Mr. Bertrand (du 30/10/25)</vt:lpstr>
      <vt:lpstr>To do</vt:lpstr>
      <vt:lpstr>PowerPoint Presentation</vt:lpstr>
      <vt:lpstr>CHOIX MÉTHODOLOGIQUES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fleury</dc:creator>
  <cp:revision>2</cp:revision>
  <dcterms:created xsi:type="dcterms:W3CDTF">2022-05-16T08:23:42Z</dcterms:created>
  <dcterms:modified xsi:type="dcterms:W3CDTF">2026-01-29T10:15:38Z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0x01010042EFEF22F81D8545B8BEEA28B7C1CC9A</vt:lpwstr>
  </property>
</Properties>
</file>